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93" r:id="rId2"/>
    <p:sldId id="257" r:id="rId3"/>
    <p:sldId id="294" r:id="rId4"/>
    <p:sldId id="295" r:id="rId5"/>
    <p:sldId id="298" r:id="rId6"/>
    <p:sldId id="296"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E3EB"/>
    <a:srgbClr val="F7F9FC"/>
    <a:srgbClr val="1873FF"/>
    <a:srgbClr val="4EC5FC"/>
    <a:srgbClr val="1267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46"/>
    <p:restoredTop sz="94659"/>
  </p:normalViewPr>
  <p:slideViewPr>
    <p:cSldViewPr snapToGrid="0">
      <p:cViewPr varScale="1">
        <p:scale>
          <a:sx n="78" d="100"/>
          <a:sy n="78" d="100"/>
        </p:scale>
        <p:origin x="111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9C6098-0300-6A48-9176-F3231AB957C2}" type="datetimeFigureOut">
              <a:rPr lang="en-US" smtClean="0"/>
              <a:t>5/16/2026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6FD031-FBA0-2F4C-9AE1-0E25AE284D07}" type="slidenum">
              <a:rPr lang="en-US" smtClean="0"/>
              <a:t>‹#›</a:t>
            </a:fld>
            <a:endParaRPr lang="en-US"/>
          </a:p>
        </p:txBody>
      </p:sp>
    </p:spTree>
    <p:extLst>
      <p:ext uri="{BB962C8B-B14F-4D97-AF65-F5344CB8AC3E}">
        <p14:creationId xmlns:p14="http://schemas.microsoft.com/office/powerpoint/2010/main" val="1521579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6FD031-FBA0-2F4C-9AE1-0E25AE284D07}" type="slidenum">
              <a:rPr lang="en-US" smtClean="0"/>
              <a:t>6</a:t>
            </a:fld>
            <a:endParaRPr lang="en-US"/>
          </a:p>
        </p:txBody>
      </p:sp>
    </p:spTree>
    <p:extLst>
      <p:ext uri="{BB962C8B-B14F-4D97-AF65-F5344CB8AC3E}">
        <p14:creationId xmlns:p14="http://schemas.microsoft.com/office/powerpoint/2010/main" val="1024941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E941E-6B7D-3008-1EA5-1BA7AD27F9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D6BB09-6581-032B-482E-EACF34161C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C170EC1-B5AB-719B-910E-1A36344DA643}"/>
              </a:ext>
            </a:extLst>
          </p:cNvPr>
          <p:cNvSpPr>
            <a:spLocks noGrp="1"/>
          </p:cNvSpPr>
          <p:nvPr>
            <p:ph type="dt" sz="half" idx="10"/>
          </p:nvPr>
        </p:nvSpPr>
        <p:spPr/>
        <p:txBody>
          <a:bodyPr/>
          <a:lstStyle/>
          <a:p>
            <a:fld id="{DBB3D73A-107F-524E-B3C8-F2F5A7CAF255}" type="datetimeFigureOut">
              <a:rPr lang="en-US" smtClean="0"/>
              <a:t>5/16/2026</a:t>
            </a:fld>
            <a:endParaRPr lang="en-US"/>
          </a:p>
        </p:txBody>
      </p:sp>
      <p:sp>
        <p:nvSpPr>
          <p:cNvPr id="5" name="Footer Placeholder 4">
            <a:extLst>
              <a:ext uri="{FF2B5EF4-FFF2-40B4-BE49-F238E27FC236}">
                <a16:creationId xmlns:a16="http://schemas.microsoft.com/office/drawing/2014/main" id="{6D350E22-922E-C70A-7788-1E193A5B6B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04218A-FFA3-3D71-2BAE-72DC94C384E7}"/>
              </a:ext>
            </a:extLst>
          </p:cNvPr>
          <p:cNvSpPr>
            <a:spLocks noGrp="1"/>
          </p:cNvSpPr>
          <p:nvPr>
            <p:ph type="sldNum" sz="quarter" idx="12"/>
          </p:nvPr>
        </p:nvSpPr>
        <p:spPr/>
        <p:txBody>
          <a:bodyPr/>
          <a:lstStyle/>
          <a:p>
            <a:fld id="{6F614EBF-5CB8-BF4C-81D3-CCF85560FA64}" type="slidenum">
              <a:rPr lang="en-US" smtClean="0"/>
              <a:t>‹#›</a:t>
            </a:fld>
            <a:endParaRPr lang="en-US"/>
          </a:p>
        </p:txBody>
      </p:sp>
    </p:spTree>
    <p:extLst>
      <p:ext uri="{BB962C8B-B14F-4D97-AF65-F5344CB8AC3E}">
        <p14:creationId xmlns:p14="http://schemas.microsoft.com/office/powerpoint/2010/main" val="2410057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C9244-01FC-90F1-394F-2C3EBE4244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FD77A1-91EA-B019-A55E-3CF8236F96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DE508E-D897-7E16-33E2-344142145898}"/>
              </a:ext>
            </a:extLst>
          </p:cNvPr>
          <p:cNvSpPr>
            <a:spLocks noGrp="1"/>
          </p:cNvSpPr>
          <p:nvPr>
            <p:ph type="dt" sz="half" idx="10"/>
          </p:nvPr>
        </p:nvSpPr>
        <p:spPr/>
        <p:txBody>
          <a:bodyPr/>
          <a:lstStyle/>
          <a:p>
            <a:fld id="{DBB3D73A-107F-524E-B3C8-F2F5A7CAF255}" type="datetimeFigureOut">
              <a:rPr lang="en-US" smtClean="0"/>
              <a:t>5/16/2026</a:t>
            </a:fld>
            <a:endParaRPr lang="en-US"/>
          </a:p>
        </p:txBody>
      </p:sp>
      <p:sp>
        <p:nvSpPr>
          <p:cNvPr id="5" name="Footer Placeholder 4">
            <a:extLst>
              <a:ext uri="{FF2B5EF4-FFF2-40B4-BE49-F238E27FC236}">
                <a16:creationId xmlns:a16="http://schemas.microsoft.com/office/drawing/2014/main" id="{D23E8266-B489-7572-0EF0-1E03687F9D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4C64C2-C5A4-6120-5647-FD4D2F26B966}"/>
              </a:ext>
            </a:extLst>
          </p:cNvPr>
          <p:cNvSpPr>
            <a:spLocks noGrp="1"/>
          </p:cNvSpPr>
          <p:nvPr>
            <p:ph type="sldNum" sz="quarter" idx="12"/>
          </p:nvPr>
        </p:nvSpPr>
        <p:spPr/>
        <p:txBody>
          <a:bodyPr/>
          <a:lstStyle/>
          <a:p>
            <a:fld id="{6F614EBF-5CB8-BF4C-81D3-CCF85560FA64}" type="slidenum">
              <a:rPr lang="en-US" smtClean="0"/>
              <a:t>‹#›</a:t>
            </a:fld>
            <a:endParaRPr lang="en-US"/>
          </a:p>
        </p:txBody>
      </p:sp>
    </p:spTree>
    <p:extLst>
      <p:ext uri="{BB962C8B-B14F-4D97-AF65-F5344CB8AC3E}">
        <p14:creationId xmlns:p14="http://schemas.microsoft.com/office/powerpoint/2010/main" val="1241405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342EF-B86D-6095-4470-7EF3A7729E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74B971-A69F-2380-F424-71EEE3D01A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0305C8-BB6D-AF3C-090C-C8505A284DB7}"/>
              </a:ext>
            </a:extLst>
          </p:cNvPr>
          <p:cNvSpPr>
            <a:spLocks noGrp="1"/>
          </p:cNvSpPr>
          <p:nvPr>
            <p:ph type="dt" sz="half" idx="10"/>
          </p:nvPr>
        </p:nvSpPr>
        <p:spPr/>
        <p:txBody>
          <a:bodyPr/>
          <a:lstStyle/>
          <a:p>
            <a:fld id="{DBB3D73A-107F-524E-B3C8-F2F5A7CAF255}" type="datetimeFigureOut">
              <a:rPr lang="en-US" smtClean="0"/>
              <a:t>5/16/2026</a:t>
            </a:fld>
            <a:endParaRPr lang="en-US"/>
          </a:p>
        </p:txBody>
      </p:sp>
      <p:sp>
        <p:nvSpPr>
          <p:cNvPr id="5" name="Footer Placeholder 4">
            <a:extLst>
              <a:ext uri="{FF2B5EF4-FFF2-40B4-BE49-F238E27FC236}">
                <a16:creationId xmlns:a16="http://schemas.microsoft.com/office/drawing/2014/main" id="{6228AFEC-F913-7DB6-FFB8-B3DC0537E3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241387-9418-2AF5-E7C9-9D13E8221783}"/>
              </a:ext>
            </a:extLst>
          </p:cNvPr>
          <p:cNvSpPr>
            <a:spLocks noGrp="1"/>
          </p:cNvSpPr>
          <p:nvPr>
            <p:ph type="sldNum" sz="quarter" idx="12"/>
          </p:nvPr>
        </p:nvSpPr>
        <p:spPr/>
        <p:txBody>
          <a:bodyPr/>
          <a:lstStyle/>
          <a:p>
            <a:fld id="{6F614EBF-5CB8-BF4C-81D3-CCF85560FA64}" type="slidenum">
              <a:rPr lang="en-US" smtClean="0"/>
              <a:t>‹#›</a:t>
            </a:fld>
            <a:endParaRPr lang="en-US"/>
          </a:p>
        </p:txBody>
      </p:sp>
    </p:spTree>
    <p:extLst>
      <p:ext uri="{BB962C8B-B14F-4D97-AF65-F5344CB8AC3E}">
        <p14:creationId xmlns:p14="http://schemas.microsoft.com/office/powerpoint/2010/main" val="2786793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2D245-9E70-47BC-B1F0-704C7ED410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032CD6-8562-6808-0E9B-9004FD611C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A50296-786F-FEC0-2492-F5B5C8956D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C93581-F690-28DA-EE65-5BCFF2508554}"/>
              </a:ext>
            </a:extLst>
          </p:cNvPr>
          <p:cNvSpPr>
            <a:spLocks noGrp="1"/>
          </p:cNvSpPr>
          <p:nvPr>
            <p:ph type="dt" sz="half" idx="10"/>
          </p:nvPr>
        </p:nvSpPr>
        <p:spPr/>
        <p:txBody>
          <a:bodyPr/>
          <a:lstStyle/>
          <a:p>
            <a:fld id="{DBB3D73A-107F-524E-B3C8-F2F5A7CAF255}" type="datetimeFigureOut">
              <a:rPr lang="en-US" smtClean="0"/>
              <a:t>5/16/2026</a:t>
            </a:fld>
            <a:endParaRPr lang="en-US"/>
          </a:p>
        </p:txBody>
      </p:sp>
      <p:sp>
        <p:nvSpPr>
          <p:cNvPr id="6" name="Footer Placeholder 5">
            <a:extLst>
              <a:ext uri="{FF2B5EF4-FFF2-40B4-BE49-F238E27FC236}">
                <a16:creationId xmlns:a16="http://schemas.microsoft.com/office/drawing/2014/main" id="{423E3503-1FBD-B1A3-5479-32972CB4D4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8D21AF-EF35-4498-D209-E09552D27883}"/>
              </a:ext>
            </a:extLst>
          </p:cNvPr>
          <p:cNvSpPr>
            <a:spLocks noGrp="1"/>
          </p:cNvSpPr>
          <p:nvPr>
            <p:ph type="sldNum" sz="quarter" idx="12"/>
          </p:nvPr>
        </p:nvSpPr>
        <p:spPr/>
        <p:txBody>
          <a:bodyPr/>
          <a:lstStyle/>
          <a:p>
            <a:fld id="{6F614EBF-5CB8-BF4C-81D3-CCF85560FA64}" type="slidenum">
              <a:rPr lang="en-US" smtClean="0"/>
              <a:t>‹#›</a:t>
            </a:fld>
            <a:endParaRPr lang="en-US"/>
          </a:p>
        </p:txBody>
      </p:sp>
    </p:spTree>
    <p:extLst>
      <p:ext uri="{BB962C8B-B14F-4D97-AF65-F5344CB8AC3E}">
        <p14:creationId xmlns:p14="http://schemas.microsoft.com/office/powerpoint/2010/main" val="1589770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C975F-D348-135B-CF59-8979DE20BA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6E6D52-0D49-1FB9-28C9-7AF365C05C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80349B0-2D1F-7E37-1913-983160CE0C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501BF4-6ED4-0951-E40B-82B85EDF29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BC5979-D4C7-4051-7991-7084BABDED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F1C2F7-0C1F-59EB-DC06-2C8922D41CD2}"/>
              </a:ext>
            </a:extLst>
          </p:cNvPr>
          <p:cNvSpPr>
            <a:spLocks noGrp="1"/>
          </p:cNvSpPr>
          <p:nvPr>
            <p:ph type="dt" sz="half" idx="10"/>
          </p:nvPr>
        </p:nvSpPr>
        <p:spPr/>
        <p:txBody>
          <a:bodyPr/>
          <a:lstStyle/>
          <a:p>
            <a:fld id="{DBB3D73A-107F-524E-B3C8-F2F5A7CAF255}" type="datetimeFigureOut">
              <a:rPr lang="en-US" smtClean="0"/>
              <a:t>5/16/2026</a:t>
            </a:fld>
            <a:endParaRPr lang="en-US"/>
          </a:p>
        </p:txBody>
      </p:sp>
      <p:sp>
        <p:nvSpPr>
          <p:cNvPr id="8" name="Footer Placeholder 7">
            <a:extLst>
              <a:ext uri="{FF2B5EF4-FFF2-40B4-BE49-F238E27FC236}">
                <a16:creationId xmlns:a16="http://schemas.microsoft.com/office/drawing/2014/main" id="{B8C09B2D-69CA-FB5E-2968-313777A8FCB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A2A47A-DE69-B59D-9923-843F8B08BA12}"/>
              </a:ext>
            </a:extLst>
          </p:cNvPr>
          <p:cNvSpPr>
            <a:spLocks noGrp="1"/>
          </p:cNvSpPr>
          <p:nvPr>
            <p:ph type="sldNum" sz="quarter" idx="12"/>
          </p:nvPr>
        </p:nvSpPr>
        <p:spPr/>
        <p:txBody>
          <a:bodyPr/>
          <a:lstStyle/>
          <a:p>
            <a:fld id="{6F614EBF-5CB8-BF4C-81D3-CCF85560FA64}" type="slidenum">
              <a:rPr lang="en-US" smtClean="0"/>
              <a:t>‹#›</a:t>
            </a:fld>
            <a:endParaRPr lang="en-US"/>
          </a:p>
        </p:txBody>
      </p:sp>
    </p:spTree>
    <p:extLst>
      <p:ext uri="{BB962C8B-B14F-4D97-AF65-F5344CB8AC3E}">
        <p14:creationId xmlns:p14="http://schemas.microsoft.com/office/powerpoint/2010/main" val="2470398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212E2-6A11-B3C7-B5E5-229CCBC73C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6D0C88-91B9-CD45-85E2-85FC7B57EC75}"/>
              </a:ext>
            </a:extLst>
          </p:cNvPr>
          <p:cNvSpPr>
            <a:spLocks noGrp="1"/>
          </p:cNvSpPr>
          <p:nvPr>
            <p:ph type="dt" sz="half" idx="10"/>
          </p:nvPr>
        </p:nvSpPr>
        <p:spPr/>
        <p:txBody>
          <a:bodyPr/>
          <a:lstStyle/>
          <a:p>
            <a:fld id="{DBB3D73A-107F-524E-B3C8-F2F5A7CAF255}" type="datetimeFigureOut">
              <a:rPr lang="en-US" smtClean="0"/>
              <a:t>5/16/2026</a:t>
            </a:fld>
            <a:endParaRPr lang="en-US"/>
          </a:p>
        </p:txBody>
      </p:sp>
      <p:sp>
        <p:nvSpPr>
          <p:cNvPr id="4" name="Footer Placeholder 3">
            <a:extLst>
              <a:ext uri="{FF2B5EF4-FFF2-40B4-BE49-F238E27FC236}">
                <a16:creationId xmlns:a16="http://schemas.microsoft.com/office/drawing/2014/main" id="{E443F10A-2D33-812F-8E3C-8BC5AA915C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55ADAD4-C0FF-AA36-B645-F91331EA1E4A}"/>
              </a:ext>
            </a:extLst>
          </p:cNvPr>
          <p:cNvSpPr>
            <a:spLocks noGrp="1"/>
          </p:cNvSpPr>
          <p:nvPr>
            <p:ph type="sldNum" sz="quarter" idx="12"/>
          </p:nvPr>
        </p:nvSpPr>
        <p:spPr/>
        <p:txBody>
          <a:bodyPr/>
          <a:lstStyle/>
          <a:p>
            <a:fld id="{6F614EBF-5CB8-BF4C-81D3-CCF85560FA64}" type="slidenum">
              <a:rPr lang="en-US" smtClean="0"/>
              <a:t>‹#›</a:t>
            </a:fld>
            <a:endParaRPr lang="en-US"/>
          </a:p>
        </p:txBody>
      </p:sp>
    </p:spTree>
    <p:extLst>
      <p:ext uri="{BB962C8B-B14F-4D97-AF65-F5344CB8AC3E}">
        <p14:creationId xmlns:p14="http://schemas.microsoft.com/office/powerpoint/2010/main" val="4038659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916600-A2F6-5648-453A-DC77BCA554C5}"/>
              </a:ext>
            </a:extLst>
          </p:cNvPr>
          <p:cNvSpPr>
            <a:spLocks noGrp="1"/>
          </p:cNvSpPr>
          <p:nvPr>
            <p:ph type="dt" sz="half" idx="10"/>
          </p:nvPr>
        </p:nvSpPr>
        <p:spPr/>
        <p:txBody>
          <a:bodyPr/>
          <a:lstStyle/>
          <a:p>
            <a:fld id="{DBB3D73A-107F-524E-B3C8-F2F5A7CAF255}" type="datetimeFigureOut">
              <a:rPr lang="en-US" smtClean="0"/>
              <a:t>5/16/2026</a:t>
            </a:fld>
            <a:endParaRPr lang="en-US"/>
          </a:p>
        </p:txBody>
      </p:sp>
      <p:sp>
        <p:nvSpPr>
          <p:cNvPr id="3" name="Footer Placeholder 2">
            <a:extLst>
              <a:ext uri="{FF2B5EF4-FFF2-40B4-BE49-F238E27FC236}">
                <a16:creationId xmlns:a16="http://schemas.microsoft.com/office/drawing/2014/main" id="{36ED3241-19E1-9C5D-AF84-E04F3D2B7AA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DFD176-3BAA-2D29-4DCD-B59570FE1CCF}"/>
              </a:ext>
            </a:extLst>
          </p:cNvPr>
          <p:cNvSpPr>
            <a:spLocks noGrp="1"/>
          </p:cNvSpPr>
          <p:nvPr>
            <p:ph type="sldNum" sz="quarter" idx="12"/>
          </p:nvPr>
        </p:nvSpPr>
        <p:spPr/>
        <p:txBody>
          <a:bodyPr/>
          <a:lstStyle/>
          <a:p>
            <a:fld id="{6F614EBF-5CB8-BF4C-81D3-CCF85560FA64}" type="slidenum">
              <a:rPr lang="en-US" smtClean="0"/>
              <a:t>‹#›</a:t>
            </a:fld>
            <a:endParaRPr lang="en-US"/>
          </a:p>
        </p:txBody>
      </p:sp>
    </p:spTree>
    <p:extLst>
      <p:ext uri="{BB962C8B-B14F-4D97-AF65-F5344CB8AC3E}">
        <p14:creationId xmlns:p14="http://schemas.microsoft.com/office/powerpoint/2010/main" val="1134646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597B3-1D0B-A7E1-EA8D-5D7B317816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0A6E55-6368-2B41-C613-EAF1FD15B6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5F4EDE-C307-7DE9-7344-EC76CE21C1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8FBC4B-D752-30B8-CE72-66C8A98A1022}"/>
              </a:ext>
            </a:extLst>
          </p:cNvPr>
          <p:cNvSpPr>
            <a:spLocks noGrp="1"/>
          </p:cNvSpPr>
          <p:nvPr>
            <p:ph type="dt" sz="half" idx="10"/>
          </p:nvPr>
        </p:nvSpPr>
        <p:spPr/>
        <p:txBody>
          <a:bodyPr/>
          <a:lstStyle/>
          <a:p>
            <a:fld id="{DBB3D73A-107F-524E-B3C8-F2F5A7CAF255}" type="datetimeFigureOut">
              <a:rPr lang="en-US" smtClean="0"/>
              <a:t>5/16/2026</a:t>
            </a:fld>
            <a:endParaRPr lang="en-US"/>
          </a:p>
        </p:txBody>
      </p:sp>
      <p:sp>
        <p:nvSpPr>
          <p:cNvPr id="6" name="Footer Placeholder 5">
            <a:extLst>
              <a:ext uri="{FF2B5EF4-FFF2-40B4-BE49-F238E27FC236}">
                <a16:creationId xmlns:a16="http://schemas.microsoft.com/office/drawing/2014/main" id="{03C64510-1C53-CC05-75A4-53267B09AD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EED7F3-054F-D99B-9E5E-0F0EA2E55853}"/>
              </a:ext>
            </a:extLst>
          </p:cNvPr>
          <p:cNvSpPr>
            <a:spLocks noGrp="1"/>
          </p:cNvSpPr>
          <p:nvPr>
            <p:ph type="sldNum" sz="quarter" idx="12"/>
          </p:nvPr>
        </p:nvSpPr>
        <p:spPr/>
        <p:txBody>
          <a:bodyPr/>
          <a:lstStyle/>
          <a:p>
            <a:fld id="{6F614EBF-5CB8-BF4C-81D3-CCF85560FA64}" type="slidenum">
              <a:rPr lang="en-US" smtClean="0"/>
              <a:t>‹#›</a:t>
            </a:fld>
            <a:endParaRPr lang="en-US"/>
          </a:p>
        </p:txBody>
      </p:sp>
    </p:spTree>
    <p:extLst>
      <p:ext uri="{BB962C8B-B14F-4D97-AF65-F5344CB8AC3E}">
        <p14:creationId xmlns:p14="http://schemas.microsoft.com/office/powerpoint/2010/main" val="675751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61150-2668-F520-D1A8-D50B3B5625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4EE9F61-F526-0183-B7D6-0E48CEAD1F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38D17E-B713-EA8C-9E6B-8B31D62BC6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1266A9-7478-AD40-736C-43D5A254EAEC}"/>
              </a:ext>
            </a:extLst>
          </p:cNvPr>
          <p:cNvSpPr>
            <a:spLocks noGrp="1"/>
          </p:cNvSpPr>
          <p:nvPr>
            <p:ph type="dt" sz="half" idx="10"/>
          </p:nvPr>
        </p:nvSpPr>
        <p:spPr/>
        <p:txBody>
          <a:bodyPr/>
          <a:lstStyle/>
          <a:p>
            <a:fld id="{DBB3D73A-107F-524E-B3C8-F2F5A7CAF255}" type="datetimeFigureOut">
              <a:rPr lang="en-US" smtClean="0"/>
              <a:t>5/16/2026</a:t>
            </a:fld>
            <a:endParaRPr lang="en-US"/>
          </a:p>
        </p:txBody>
      </p:sp>
      <p:sp>
        <p:nvSpPr>
          <p:cNvPr id="6" name="Footer Placeholder 5">
            <a:extLst>
              <a:ext uri="{FF2B5EF4-FFF2-40B4-BE49-F238E27FC236}">
                <a16:creationId xmlns:a16="http://schemas.microsoft.com/office/drawing/2014/main" id="{91581C8D-F339-5B26-9C80-C53CC33A7F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742BF0-1A12-A891-07F2-55E110C6108C}"/>
              </a:ext>
            </a:extLst>
          </p:cNvPr>
          <p:cNvSpPr>
            <a:spLocks noGrp="1"/>
          </p:cNvSpPr>
          <p:nvPr>
            <p:ph type="sldNum" sz="quarter" idx="12"/>
          </p:nvPr>
        </p:nvSpPr>
        <p:spPr/>
        <p:txBody>
          <a:bodyPr/>
          <a:lstStyle/>
          <a:p>
            <a:fld id="{6F614EBF-5CB8-BF4C-81D3-CCF85560FA64}" type="slidenum">
              <a:rPr lang="en-US" smtClean="0"/>
              <a:t>‹#›</a:t>
            </a:fld>
            <a:endParaRPr lang="en-US"/>
          </a:p>
        </p:txBody>
      </p:sp>
    </p:spTree>
    <p:extLst>
      <p:ext uri="{BB962C8B-B14F-4D97-AF65-F5344CB8AC3E}">
        <p14:creationId xmlns:p14="http://schemas.microsoft.com/office/powerpoint/2010/main" val="1959949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CDBFC-353D-7466-C636-B0173B419E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1F7464-3E4F-74F1-3C9D-DDAA7A4D34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63FA06-B732-DED0-6576-E98EC4BF6D0F}"/>
              </a:ext>
            </a:extLst>
          </p:cNvPr>
          <p:cNvSpPr>
            <a:spLocks noGrp="1"/>
          </p:cNvSpPr>
          <p:nvPr>
            <p:ph type="dt" sz="half" idx="10"/>
          </p:nvPr>
        </p:nvSpPr>
        <p:spPr/>
        <p:txBody>
          <a:bodyPr/>
          <a:lstStyle/>
          <a:p>
            <a:fld id="{DBB3D73A-107F-524E-B3C8-F2F5A7CAF255}" type="datetimeFigureOut">
              <a:rPr lang="en-US" smtClean="0"/>
              <a:t>5/16/2026</a:t>
            </a:fld>
            <a:endParaRPr lang="en-US"/>
          </a:p>
        </p:txBody>
      </p:sp>
      <p:sp>
        <p:nvSpPr>
          <p:cNvPr id="5" name="Footer Placeholder 4">
            <a:extLst>
              <a:ext uri="{FF2B5EF4-FFF2-40B4-BE49-F238E27FC236}">
                <a16:creationId xmlns:a16="http://schemas.microsoft.com/office/drawing/2014/main" id="{BB0BF521-0627-0CB9-E5B6-18CD09DA0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20A3D1-7AF5-2095-0E42-2726FB79B564}"/>
              </a:ext>
            </a:extLst>
          </p:cNvPr>
          <p:cNvSpPr>
            <a:spLocks noGrp="1"/>
          </p:cNvSpPr>
          <p:nvPr>
            <p:ph type="sldNum" sz="quarter" idx="12"/>
          </p:nvPr>
        </p:nvSpPr>
        <p:spPr/>
        <p:txBody>
          <a:bodyPr/>
          <a:lstStyle/>
          <a:p>
            <a:fld id="{6F614EBF-5CB8-BF4C-81D3-CCF85560FA64}" type="slidenum">
              <a:rPr lang="en-US" smtClean="0"/>
              <a:t>‹#›</a:t>
            </a:fld>
            <a:endParaRPr lang="en-US"/>
          </a:p>
        </p:txBody>
      </p:sp>
    </p:spTree>
    <p:extLst>
      <p:ext uri="{BB962C8B-B14F-4D97-AF65-F5344CB8AC3E}">
        <p14:creationId xmlns:p14="http://schemas.microsoft.com/office/powerpoint/2010/main" val="1192134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860ECEC-F508-F8D1-57E5-FC32165AD8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2BD06E9-4F9B-BA49-1749-4C3F426650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98DF90-780E-E8BA-BDDC-632086F25785}"/>
              </a:ext>
            </a:extLst>
          </p:cNvPr>
          <p:cNvSpPr>
            <a:spLocks noGrp="1"/>
          </p:cNvSpPr>
          <p:nvPr>
            <p:ph type="dt" sz="half" idx="10"/>
          </p:nvPr>
        </p:nvSpPr>
        <p:spPr/>
        <p:txBody>
          <a:bodyPr/>
          <a:lstStyle/>
          <a:p>
            <a:fld id="{DBB3D73A-107F-524E-B3C8-F2F5A7CAF255}" type="datetimeFigureOut">
              <a:rPr lang="en-US" smtClean="0"/>
              <a:t>5/16/2026</a:t>
            </a:fld>
            <a:endParaRPr lang="en-US"/>
          </a:p>
        </p:txBody>
      </p:sp>
      <p:sp>
        <p:nvSpPr>
          <p:cNvPr id="5" name="Footer Placeholder 4">
            <a:extLst>
              <a:ext uri="{FF2B5EF4-FFF2-40B4-BE49-F238E27FC236}">
                <a16:creationId xmlns:a16="http://schemas.microsoft.com/office/drawing/2014/main" id="{E1BD8D73-394F-93A0-5928-1EDB5D99B0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07F406-A33E-5A70-9C90-2736733C6015}"/>
              </a:ext>
            </a:extLst>
          </p:cNvPr>
          <p:cNvSpPr>
            <a:spLocks noGrp="1"/>
          </p:cNvSpPr>
          <p:nvPr>
            <p:ph type="sldNum" sz="quarter" idx="12"/>
          </p:nvPr>
        </p:nvSpPr>
        <p:spPr/>
        <p:txBody>
          <a:bodyPr/>
          <a:lstStyle/>
          <a:p>
            <a:fld id="{6F614EBF-5CB8-BF4C-81D3-CCF85560FA64}" type="slidenum">
              <a:rPr lang="en-US" smtClean="0"/>
              <a:t>‹#›</a:t>
            </a:fld>
            <a:endParaRPr lang="en-US"/>
          </a:p>
        </p:txBody>
      </p:sp>
    </p:spTree>
    <p:extLst>
      <p:ext uri="{BB962C8B-B14F-4D97-AF65-F5344CB8AC3E}">
        <p14:creationId xmlns:p14="http://schemas.microsoft.com/office/powerpoint/2010/main" val="2503249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B98F13-8396-588F-6C95-BA4556C727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038C9D-C3C2-2B3E-9576-014ADC5267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D19820-EC7E-A5B0-D85A-8DC0481777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B3D73A-107F-524E-B3C8-F2F5A7CAF255}" type="datetimeFigureOut">
              <a:rPr lang="en-US" smtClean="0"/>
              <a:t>5/16/2026</a:t>
            </a:fld>
            <a:endParaRPr lang="en-US"/>
          </a:p>
        </p:txBody>
      </p:sp>
      <p:sp>
        <p:nvSpPr>
          <p:cNvPr id="5" name="Footer Placeholder 4">
            <a:extLst>
              <a:ext uri="{FF2B5EF4-FFF2-40B4-BE49-F238E27FC236}">
                <a16:creationId xmlns:a16="http://schemas.microsoft.com/office/drawing/2014/main" id="{96C29D89-88F3-B473-4C9C-4E027C62DA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0CF7102-0C9A-6DDF-2642-E988D84694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F614EBF-5CB8-BF4C-81D3-CCF85560FA64}" type="slidenum">
              <a:rPr lang="en-US" smtClean="0"/>
              <a:t>‹#›</a:t>
            </a:fld>
            <a:endParaRPr lang="en-US"/>
          </a:p>
        </p:txBody>
      </p:sp>
    </p:spTree>
    <p:extLst>
      <p:ext uri="{BB962C8B-B14F-4D97-AF65-F5344CB8AC3E}">
        <p14:creationId xmlns:p14="http://schemas.microsoft.com/office/powerpoint/2010/main" val="1385668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12CEC-AC77-C7AC-B934-EB30B6EEDF57}"/>
            </a:ext>
          </a:extLst>
        </p:cNvPr>
        <p:cNvGrpSpPr/>
        <p:nvPr/>
      </p:nvGrpSpPr>
      <p:grpSpPr>
        <a:xfrm>
          <a:off x="0" y="0"/>
          <a:ext cx="0" cy="0"/>
          <a:chOff x="0" y="0"/>
          <a:chExt cx="0" cy="0"/>
        </a:xfrm>
      </p:grpSpPr>
      <p:pic>
        <p:nvPicPr>
          <p:cNvPr id="12" name="Picture 11" descr="A city skyline with a tall tower&#10;&#10;AI-generated content may be incorrect.">
            <a:extLst>
              <a:ext uri="{FF2B5EF4-FFF2-40B4-BE49-F238E27FC236}">
                <a16:creationId xmlns:a16="http://schemas.microsoft.com/office/drawing/2014/main" id="{0F747EAA-4AC2-E361-9848-76BDD220E8A2}"/>
              </a:ext>
            </a:extLst>
          </p:cNvPr>
          <p:cNvPicPr>
            <a:picLocks noChangeAspect="1"/>
          </p:cNvPicPr>
          <p:nvPr/>
        </p:nvPicPr>
        <p:blipFill>
          <a:blip r:embed="rId2"/>
          <a:stretch>
            <a:fillRect/>
          </a:stretch>
        </p:blipFill>
        <p:spPr>
          <a:xfrm>
            <a:off x="0" y="0"/>
            <a:ext cx="12192000" cy="6858000"/>
          </a:xfrm>
          <a:prstGeom prst="rect">
            <a:avLst/>
          </a:prstGeom>
        </p:spPr>
      </p:pic>
      <p:sp>
        <p:nvSpPr>
          <p:cNvPr id="14" name="TextBox 14">
            <a:extLst>
              <a:ext uri="{FF2B5EF4-FFF2-40B4-BE49-F238E27FC236}">
                <a16:creationId xmlns:a16="http://schemas.microsoft.com/office/drawing/2014/main" id="{6FAF0512-43D9-9172-085A-6B420551DB9E}"/>
              </a:ext>
            </a:extLst>
          </p:cNvPr>
          <p:cNvSpPr txBox="1"/>
          <p:nvPr/>
        </p:nvSpPr>
        <p:spPr>
          <a:xfrm>
            <a:off x="475722" y="1511521"/>
            <a:ext cx="5916400" cy="1846659"/>
          </a:xfrm>
          <a:prstGeom prst="rect">
            <a:avLst/>
          </a:prstGeom>
        </p:spPr>
        <p:txBody>
          <a:bodyPr wrap="square" lIns="0" tIns="0" rIns="0" bIns="0" rtlCol="0" anchor="t">
            <a:spAutoFit/>
          </a:bodyPr>
          <a:lstStyle/>
          <a:p>
            <a:r>
              <a:rPr lang="en-US" sz="6000" b="1" dirty="0">
                <a:latin typeface="Aptos Display"/>
                <a:ea typeface="Helvetica Neue Medium" panose="02000503000000020004" pitchFamily="2" charset="0"/>
                <a:cs typeface="Helvetica Neue Medium" panose="02000503000000020004" pitchFamily="2" charset="0"/>
                <a:sym typeface="Inter"/>
              </a:rPr>
              <a:t>Complyance</a:t>
            </a:r>
            <a:br>
              <a:rPr lang="en-US" sz="6000" b="1" dirty="0">
                <a:latin typeface="Aptos Display"/>
                <a:ea typeface="Helvetica Neue Medium" panose="02000503000000020004" pitchFamily="2" charset="0"/>
                <a:cs typeface="Helvetica Neue Medium" panose="02000503000000020004" pitchFamily="2" charset="0"/>
                <a:sym typeface="Inter"/>
              </a:rPr>
            </a:br>
            <a:r>
              <a:rPr lang="en-US" sz="6000" b="1" dirty="0">
                <a:latin typeface="Aptos Display"/>
                <a:ea typeface="Helvetica Neue Medium" panose="02000503000000020004" pitchFamily="2" charset="0"/>
                <a:cs typeface="Helvetica Neue Medium" panose="02000503000000020004" pitchFamily="2" charset="0"/>
                <a:sym typeface="Inter"/>
              </a:rPr>
              <a:t>Hackathon 2026</a:t>
            </a:r>
            <a:endParaRPr lang="en-US" sz="6000" b="1" dirty="0">
              <a:latin typeface="Aptos Display"/>
              <a:ea typeface="Helvetica Neue Medium" panose="02000503000000020004" pitchFamily="2" charset="0"/>
              <a:cs typeface="Helvetica Neue Medium" panose="02000503000000020004" pitchFamily="2" charset="0"/>
            </a:endParaRPr>
          </a:p>
        </p:txBody>
      </p:sp>
      <p:sp>
        <p:nvSpPr>
          <p:cNvPr id="15" name="TextBox 14">
            <a:extLst>
              <a:ext uri="{FF2B5EF4-FFF2-40B4-BE49-F238E27FC236}">
                <a16:creationId xmlns:a16="http://schemas.microsoft.com/office/drawing/2014/main" id="{1C6F14C0-00D9-EAD2-133E-2E13F5089817}"/>
              </a:ext>
            </a:extLst>
          </p:cNvPr>
          <p:cNvSpPr txBox="1"/>
          <p:nvPr/>
        </p:nvSpPr>
        <p:spPr>
          <a:xfrm>
            <a:off x="475722" y="3429000"/>
            <a:ext cx="5429704"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err="1">
                <a:latin typeface="+mj-lt"/>
              </a:rPr>
              <a:t>ClearGlass</a:t>
            </a:r>
            <a:r>
              <a:rPr lang="en-US" sz="2000" b="1" dirty="0">
                <a:latin typeface="+mj-lt"/>
              </a:rPr>
              <a:t>: An Explainable, Hybrid ML Invoice Anomaly Detection Engine</a:t>
            </a:r>
          </a:p>
          <a:p>
            <a:endParaRPr lang="en-US" dirty="0"/>
          </a:p>
          <a:p>
            <a:r>
              <a:rPr lang="en-US" sz="2000" b="1" dirty="0">
                <a:solidFill>
                  <a:schemeClr val="tx1">
                    <a:lumMod val="65000"/>
                    <a:lumOff val="35000"/>
                  </a:schemeClr>
                </a:solidFill>
                <a:latin typeface="+mj-lt"/>
                <a:ea typeface="Inter"/>
              </a:rPr>
              <a:t>Problem statement ID: 1</a:t>
            </a:r>
          </a:p>
        </p:txBody>
      </p:sp>
      <p:pic>
        <p:nvPicPr>
          <p:cNvPr id="21" name="Picture 20" descr="A black text on a white background&#10;&#10;AI-generated content may be incorrect.">
            <a:extLst>
              <a:ext uri="{FF2B5EF4-FFF2-40B4-BE49-F238E27FC236}">
                <a16:creationId xmlns:a16="http://schemas.microsoft.com/office/drawing/2014/main" id="{F0F25A6A-8226-8235-FBE3-16FC048618DF}"/>
              </a:ext>
            </a:extLst>
          </p:cNvPr>
          <p:cNvPicPr>
            <a:picLocks noChangeAspect="1"/>
          </p:cNvPicPr>
          <p:nvPr/>
        </p:nvPicPr>
        <p:blipFill>
          <a:blip r:embed="rId3"/>
          <a:stretch>
            <a:fillRect/>
          </a:stretch>
        </p:blipFill>
        <p:spPr>
          <a:xfrm>
            <a:off x="204185" y="395949"/>
            <a:ext cx="2771180" cy="719623"/>
          </a:xfrm>
          <a:prstGeom prst="rect">
            <a:avLst/>
          </a:prstGeom>
          <a:ln>
            <a:noFill/>
          </a:ln>
        </p:spPr>
      </p:pic>
      <p:sp>
        <p:nvSpPr>
          <p:cNvPr id="2" name="TextBox 1">
            <a:extLst>
              <a:ext uri="{FF2B5EF4-FFF2-40B4-BE49-F238E27FC236}">
                <a16:creationId xmlns:a16="http://schemas.microsoft.com/office/drawing/2014/main" id="{B6A1E8A1-1D79-C73F-032D-22FE0E763906}"/>
              </a:ext>
            </a:extLst>
          </p:cNvPr>
          <p:cNvSpPr txBox="1"/>
          <p:nvPr/>
        </p:nvSpPr>
        <p:spPr>
          <a:xfrm>
            <a:off x="475721" y="4865727"/>
            <a:ext cx="6416691"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chemeClr val="tx1">
                    <a:lumMod val="65000"/>
                    <a:lumOff val="35000"/>
                  </a:schemeClr>
                </a:solidFill>
              </a:rPr>
              <a:t>Team Name: </a:t>
            </a:r>
            <a:r>
              <a:rPr lang="en-US" sz="2000" b="1" dirty="0" err="1">
                <a:solidFill>
                  <a:schemeClr val="tx1">
                    <a:lumMod val="65000"/>
                    <a:lumOff val="35000"/>
                  </a:schemeClr>
                </a:solidFill>
              </a:rPr>
              <a:t>Ctrl+Alt+Delete</a:t>
            </a:r>
            <a:endParaRPr lang="en-US" sz="2000" b="1" dirty="0">
              <a:solidFill>
                <a:schemeClr val="tx1">
                  <a:lumMod val="65000"/>
                  <a:lumOff val="35000"/>
                </a:schemeClr>
              </a:solidFill>
            </a:endParaRPr>
          </a:p>
          <a:p>
            <a:endParaRPr lang="en-US" sz="2000" dirty="0">
              <a:solidFill>
                <a:schemeClr val="tx1">
                  <a:lumMod val="65000"/>
                  <a:lumOff val="35000"/>
                </a:schemeClr>
              </a:solidFill>
              <a:latin typeface="Aptos"/>
              <a:ea typeface="Inter"/>
            </a:endParaRPr>
          </a:p>
          <a:p>
            <a:r>
              <a:rPr lang="en-US" sz="2000" b="1" dirty="0">
                <a:solidFill>
                  <a:schemeClr val="tx1">
                    <a:lumMod val="65000"/>
                    <a:lumOff val="35000"/>
                  </a:schemeClr>
                </a:solidFill>
                <a:latin typeface="Aptos"/>
                <a:ea typeface="Inter"/>
              </a:rPr>
              <a:t>Team Members: Ajay R, Raagul N, Mohammed Isa S A</a:t>
            </a:r>
          </a:p>
        </p:txBody>
      </p:sp>
    </p:spTree>
    <p:extLst>
      <p:ext uri="{BB962C8B-B14F-4D97-AF65-F5344CB8AC3E}">
        <p14:creationId xmlns:p14="http://schemas.microsoft.com/office/powerpoint/2010/main" val="1718666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26744E5F-838C-3526-6E72-89A7464CAA1D}"/>
              </a:ext>
            </a:extLst>
          </p:cNvPr>
          <p:cNvGrpSpPr/>
          <p:nvPr/>
        </p:nvGrpSpPr>
        <p:grpSpPr>
          <a:xfrm>
            <a:off x="1" y="6595354"/>
            <a:ext cx="12191999" cy="304799"/>
            <a:chOff x="0" y="0"/>
            <a:chExt cx="1979097" cy="2709333"/>
          </a:xfrm>
        </p:grpSpPr>
        <p:sp>
          <p:nvSpPr>
            <p:cNvPr id="3" name="Freeform 9">
              <a:extLst>
                <a:ext uri="{FF2B5EF4-FFF2-40B4-BE49-F238E27FC236}">
                  <a16:creationId xmlns:a16="http://schemas.microsoft.com/office/drawing/2014/main" id="{33BB8BEC-AD70-9EF4-0837-BB4C50624901}"/>
                </a:ext>
              </a:extLst>
            </p:cNvPr>
            <p:cNvSpPr/>
            <p:nvPr/>
          </p:nvSpPr>
          <p:spPr>
            <a:xfrm>
              <a:off x="0" y="0"/>
              <a:ext cx="1979097" cy="2709333"/>
            </a:xfrm>
            <a:custGeom>
              <a:avLst/>
              <a:gdLst/>
              <a:ahLst/>
              <a:cxnLst/>
              <a:rect l="l" t="t" r="r" b="b"/>
              <a:pathLst>
                <a:path w="1979097" h="2709333">
                  <a:moveTo>
                    <a:pt x="0" y="0"/>
                  </a:moveTo>
                  <a:lnTo>
                    <a:pt x="1979097" y="0"/>
                  </a:lnTo>
                  <a:lnTo>
                    <a:pt x="1979097" y="2709333"/>
                  </a:lnTo>
                  <a:lnTo>
                    <a:pt x="0" y="2709333"/>
                  </a:lnTo>
                  <a:close/>
                </a:path>
              </a:pathLst>
            </a:custGeom>
            <a:gradFill rotWithShape="1">
              <a:gsLst>
                <a:gs pos="0">
                  <a:srgbClr val="001557">
                    <a:alpha val="100000"/>
                  </a:srgbClr>
                </a:gs>
                <a:gs pos="100000">
                  <a:srgbClr val="153DB6">
                    <a:alpha val="100000"/>
                  </a:srgbClr>
                </a:gs>
              </a:gsLst>
              <a:lin ang="0"/>
            </a:gradFill>
          </p:spPr>
          <p:txBody>
            <a:bodyPr/>
            <a:lstStyle/>
            <a:p>
              <a:endParaRPr lang="en-US"/>
            </a:p>
          </p:txBody>
        </p:sp>
        <p:sp>
          <p:nvSpPr>
            <p:cNvPr id="4" name="TextBox 10">
              <a:extLst>
                <a:ext uri="{FF2B5EF4-FFF2-40B4-BE49-F238E27FC236}">
                  <a16:creationId xmlns:a16="http://schemas.microsoft.com/office/drawing/2014/main" id="{93AF309D-0829-6204-940E-0F68AA38B1F5}"/>
                </a:ext>
              </a:extLst>
            </p:cNvPr>
            <p:cNvSpPr txBox="1"/>
            <p:nvPr/>
          </p:nvSpPr>
          <p:spPr>
            <a:xfrm>
              <a:off x="0" y="19050"/>
              <a:ext cx="1979097" cy="2690283"/>
            </a:xfrm>
            <a:prstGeom prst="rect">
              <a:avLst/>
            </a:prstGeom>
          </p:spPr>
          <p:txBody>
            <a:bodyPr lIns="50800" tIns="50800" rIns="50800" bIns="50800" rtlCol="0" anchor="ctr"/>
            <a:lstStyle/>
            <a:p>
              <a:pPr algn="ctr">
                <a:lnSpc>
                  <a:spcPts val="1456"/>
                </a:lnSpc>
              </a:pPr>
              <a:endParaRPr/>
            </a:p>
          </p:txBody>
        </p:sp>
      </p:grpSp>
      <p:sp>
        <p:nvSpPr>
          <p:cNvPr id="6" name="TextBox 5">
            <a:extLst>
              <a:ext uri="{FF2B5EF4-FFF2-40B4-BE49-F238E27FC236}">
                <a16:creationId xmlns:a16="http://schemas.microsoft.com/office/drawing/2014/main" id="{1C81E38B-3951-15D5-611C-202FE266E947}"/>
              </a:ext>
            </a:extLst>
          </p:cNvPr>
          <p:cNvSpPr txBox="1"/>
          <p:nvPr/>
        </p:nvSpPr>
        <p:spPr>
          <a:xfrm>
            <a:off x="143626" y="6627644"/>
            <a:ext cx="303519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rgbClr val="FFFFFF"/>
                </a:solidFill>
                <a:ea typeface="Inter Semi-Bold"/>
              </a:rPr>
              <a:t>© Complyance Inc 2021 - 2026</a:t>
            </a:r>
            <a:endParaRPr lang="en-US" sz="1000" dirty="0">
              <a:ea typeface="Inter Semi-Bold"/>
            </a:endParaRPr>
          </a:p>
        </p:txBody>
      </p:sp>
      <p:sp>
        <p:nvSpPr>
          <p:cNvPr id="7" name="TextBox 2">
            <a:extLst>
              <a:ext uri="{FF2B5EF4-FFF2-40B4-BE49-F238E27FC236}">
                <a16:creationId xmlns:a16="http://schemas.microsoft.com/office/drawing/2014/main" id="{CA0B0549-E9A0-5F3E-3E33-E87C67DE0E11}"/>
              </a:ext>
            </a:extLst>
          </p:cNvPr>
          <p:cNvSpPr txBox="1"/>
          <p:nvPr/>
        </p:nvSpPr>
        <p:spPr>
          <a:xfrm>
            <a:off x="302445" y="458242"/>
            <a:ext cx="7288057" cy="492443"/>
          </a:xfrm>
          <a:prstGeom prst="rect">
            <a:avLst/>
          </a:prstGeom>
        </p:spPr>
        <p:txBody>
          <a:bodyPr wrap="square" lIns="0" tIns="0" rIns="0" bIns="0" rtlCol="0" anchor="t">
            <a:spAutoFit/>
          </a:bodyPr>
          <a:lstStyle/>
          <a:p>
            <a:r>
              <a:rPr lang="en-US" sz="3200" b="1" dirty="0">
                <a:latin typeface="Times New Roman" panose="02020603050405020304" pitchFamily="18" charset="0"/>
                <a:cs typeface="Times New Roman" panose="02020603050405020304" pitchFamily="18" charset="0"/>
              </a:rPr>
              <a:t>PROPOSED</a:t>
            </a:r>
            <a:r>
              <a:rPr lang="en-US" sz="3200" b="1" dirty="0"/>
              <a:t> </a:t>
            </a:r>
            <a:r>
              <a:rPr lang="en-US" sz="3200" b="1" dirty="0">
                <a:latin typeface="Times New Roman" panose="02020603050405020304" pitchFamily="18" charset="0"/>
                <a:cs typeface="Times New Roman" panose="02020603050405020304" pitchFamily="18" charset="0"/>
              </a:rPr>
              <a:t>SOLUTION</a:t>
            </a:r>
            <a:endParaRPr lang="en-US" sz="3200" b="1" dirty="0">
              <a:solidFill>
                <a:srgbClr val="030303"/>
              </a:solidFill>
              <a:latin typeface="Times New Roman" panose="02020603050405020304" pitchFamily="18" charset="0"/>
              <a:ea typeface="Helvetica Neue" panose="02000503000000020004" pitchFamily="2" charset="0"/>
              <a:cs typeface="Times New Roman" panose="02020603050405020304" pitchFamily="18" charset="0"/>
              <a:sym typeface="Inter Bold"/>
            </a:endParaRPr>
          </a:p>
        </p:txBody>
      </p:sp>
      <p:sp>
        <p:nvSpPr>
          <p:cNvPr id="8" name="TextBox 11">
            <a:extLst>
              <a:ext uri="{FF2B5EF4-FFF2-40B4-BE49-F238E27FC236}">
                <a16:creationId xmlns:a16="http://schemas.microsoft.com/office/drawing/2014/main" id="{85B9C5B6-DB31-76F2-52A7-2AB967500E6F}"/>
              </a:ext>
            </a:extLst>
          </p:cNvPr>
          <p:cNvSpPr txBox="1"/>
          <p:nvPr/>
        </p:nvSpPr>
        <p:spPr>
          <a:xfrm>
            <a:off x="302445" y="1114181"/>
            <a:ext cx="11270123" cy="5232202"/>
          </a:xfrm>
          <a:prstGeom prst="rect">
            <a:avLst/>
          </a:prstGeom>
        </p:spPr>
        <p:txBody>
          <a:bodyPr wrap="square" lIns="0" tIns="0" rIns="0" bIns="0" rtlCol="0" anchor="t">
            <a:spAutoFit/>
          </a:bodyPr>
          <a:lstStyle/>
          <a:p>
            <a:pPr algn="just"/>
            <a:r>
              <a:rPr lang="en-US" sz="2000" dirty="0" err="1">
                <a:latin typeface="+mj-lt"/>
              </a:rPr>
              <a:t>ClearGlass</a:t>
            </a:r>
            <a:r>
              <a:rPr lang="en-US" sz="2000" dirty="0">
                <a:latin typeface="+mj-lt"/>
              </a:rPr>
              <a:t> is a hybrid pipeline combining statistical feature engineering and unsupervised classical machine learning to flag irregular invoices. First, we utilize a robust synthetic data generator to create a highly realistic, privacy-compliant dataset of buyers, sellers, and invoices. Then, we engineer temporal and financial features to train an Isolation Forest model. Instead of relying on LLMs, the system assigns a continuous anomaly score to incoming invoices and uses Explainable AI (SHAP) to translate the mathematical outliers into concrete, human-readable reason codes (e.g., "Tax Mismatch", "Unusual Submission Time").</a:t>
            </a:r>
          </a:p>
          <a:p>
            <a:pPr algn="just"/>
            <a:r>
              <a:rPr lang="en-US" sz="2000" b="1" dirty="0">
                <a:latin typeface="+mj-lt"/>
              </a:rPr>
              <a:t>How it addresses the problem:</a:t>
            </a:r>
            <a:endParaRPr lang="en-US" sz="2000" dirty="0">
              <a:latin typeface="+mj-lt"/>
            </a:endParaRPr>
          </a:p>
          <a:p>
            <a:pPr marL="285750" indent="-285750" algn="just">
              <a:buFont typeface="Arial" panose="020B0604020202020204" pitchFamily="34" charset="0"/>
              <a:buChar char="•"/>
            </a:pPr>
            <a:r>
              <a:rPr lang="en-US" sz="2000" b="1" dirty="0">
                <a:latin typeface="+mj-lt"/>
              </a:rPr>
              <a:t>Contextual Understanding:</a:t>
            </a:r>
            <a:r>
              <a:rPr lang="en-US" sz="2000" dirty="0">
                <a:latin typeface="+mj-lt"/>
              </a:rPr>
              <a:t> It moves beyond rigid "if-then" ERP rules by learning the "normal" variance and behavioral patterns of specific seller-buyer pairs.</a:t>
            </a:r>
          </a:p>
          <a:p>
            <a:pPr marL="285750" indent="-285750" algn="just">
              <a:buFont typeface="Arial" panose="020B0604020202020204" pitchFamily="34" charset="0"/>
              <a:buChar char="•"/>
            </a:pPr>
            <a:r>
              <a:rPr lang="en-US" sz="2000" b="1" dirty="0">
                <a:latin typeface="+mj-lt"/>
              </a:rPr>
              <a:t>Neutral Flagging:</a:t>
            </a:r>
            <a:r>
              <a:rPr lang="en-US" sz="2000" dirty="0">
                <a:latin typeface="+mj-lt"/>
              </a:rPr>
              <a:t> It strictly outputs an anomaly score and a "review recommended" flag, avoiding absolute fraud accusations, perfectly aligning with compliance workflows.</a:t>
            </a:r>
          </a:p>
          <a:p>
            <a:pPr marL="285750" indent="-285750" algn="just">
              <a:buFont typeface="Arial" panose="020B0604020202020204" pitchFamily="34" charset="0"/>
              <a:buChar char="•"/>
            </a:pPr>
            <a:r>
              <a:rPr lang="en-US" sz="2000" b="1" dirty="0">
                <a:latin typeface="+mj-lt"/>
              </a:rPr>
              <a:t>Constraint Adherence:</a:t>
            </a:r>
            <a:r>
              <a:rPr lang="en-US" sz="2000" dirty="0">
                <a:latin typeface="+mj-lt"/>
              </a:rPr>
              <a:t> It entirely bypasses heavy LLMs for the core logic, ensuring fast, deterministic, and computationally cheap processing.</a:t>
            </a:r>
          </a:p>
          <a:p>
            <a:pPr marL="285750" indent="-285750" algn="just">
              <a:buFont typeface="Arial" panose="020B0604020202020204" pitchFamily="34" charset="0"/>
              <a:buChar char="•"/>
            </a:pPr>
            <a:r>
              <a:rPr lang="en-US" sz="2000" b="1" dirty="0">
                <a:latin typeface="+mj-lt"/>
              </a:rPr>
              <a:t>Uniqueness of the solution:</a:t>
            </a:r>
            <a:r>
              <a:rPr lang="en-US" sz="2000" dirty="0">
                <a:latin typeface="+mj-lt"/>
              </a:rPr>
              <a:t> The primary differentiator is our focus on </a:t>
            </a:r>
            <a:r>
              <a:rPr lang="en-US" sz="2000" b="1" dirty="0">
                <a:latin typeface="+mj-lt"/>
              </a:rPr>
              <a:t>Auditability via Explainable AI</a:t>
            </a:r>
            <a:r>
              <a:rPr lang="en-US" sz="2000" dirty="0">
                <a:latin typeface="+mj-lt"/>
              </a:rPr>
              <a:t>. We don't just output a red flag; we mathematically deconstruct the model's decision using SHAP values. The system tells the reviewer exactly </a:t>
            </a:r>
            <a:r>
              <a:rPr lang="en-US" sz="2000" i="1" dirty="0">
                <a:latin typeface="+mj-lt"/>
              </a:rPr>
              <a:t>why</a:t>
            </a:r>
            <a:r>
              <a:rPr lang="en-US" sz="2000" dirty="0">
                <a:latin typeface="+mj-lt"/>
              </a:rPr>
              <a:t> it was flagged (e.g., "Anomaly Score 85/100: Driven primarily by the submission time being 4 hours outside the seller's usual window, combined with an abnormal line count").</a:t>
            </a:r>
          </a:p>
        </p:txBody>
      </p:sp>
      <p:pic>
        <p:nvPicPr>
          <p:cNvPr id="16" name="Picture 15" descr="A black text on a white background&#10;&#10;AI-generated content may be incorrect.">
            <a:extLst>
              <a:ext uri="{FF2B5EF4-FFF2-40B4-BE49-F238E27FC236}">
                <a16:creationId xmlns:a16="http://schemas.microsoft.com/office/drawing/2014/main" id="{D4DB48D2-7F1D-08F9-0ADA-DB21E632ECE5}"/>
              </a:ext>
            </a:extLst>
          </p:cNvPr>
          <p:cNvPicPr>
            <a:picLocks noChangeAspect="1"/>
          </p:cNvPicPr>
          <p:nvPr/>
        </p:nvPicPr>
        <p:blipFill>
          <a:blip r:embed="rId2"/>
          <a:stretch>
            <a:fillRect/>
          </a:stretch>
        </p:blipFill>
        <p:spPr>
          <a:xfrm>
            <a:off x="9790173" y="155174"/>
            <a:ext cx="2204133" cy="572372"/>
          </a:xfrm>
          <a:prstGeom prst="rect">
            <a:avLst/>
          </a:prstGeom>
          <a:ln>
            <a:noFill/>
          </a:ln>
        </p:spPr>
      </p:pic>
      <p:sp>
        <p:nvSpPr>
          <p:cNvPr id="22" name="TextBox 21">
            <a:extLst>
              <a:ext uri="{FF2B5EF4-FFF2-40B4-BE49-F238E27FC236}">
                <a16:creationId xmlns:a16="http://schemas.microsoft.com/office/drawing/2014/main" id="{C8982535-80CE-FB6D-994B-B4B859E20733}"/>
              </a:ext>
            </a:extLst>
          </p:cNvPr>
          <p:cNvSpPr txBox="1"/>
          <p:nvPr/>
        </p:nvSpPr>
        <p:spPr>
          <a:xfrm>
            <a:off x="11392448" y="6608625"/>
            <a:ext cx="60185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000" dirty="0">
                <a:solidFill>
                  <a:schemeClr val="bg1"/>
                </a:solidFill>
                <a:ea typeface="Inter Semi-Bold"/>
              </a:rPr>
              <a:t>02</a:t>
            </a:r>
          </a:p>
        </p:txBody>
      </p:sp>
    </p:spTree>
    <p:extLst>
      <p:ext uri="{BB962C8B-B14F-4D97-AF65-F5344CB8AC3E}">
        <p14:creationId xmlns:p14="http://schemas.microsoft.com/office/powerpoint/2010/main" val="976915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88B1E-541A-B77A-5465-30340214554D}"/>
            </a:ext>
          </a:extLst>
        </p:cNvPr>
        <p:cNvGrpSpPr/>
        <p:nvPr/>
      </p:nvGrpSpPr>
      <p:grpSpPr>
        <a:xfrm>
          <a:off x="0" y="0"/>
          <a:ext cx="0" cy="0"/>
          <a:chOff x="0" y="0"/>
          <a:chExt cx="0" cy="0"/>
        </a:xfrm>
      </p:grpSpPr>
      <p:grpSp>
        <p:nvGrpSpPr>
          <p:cNvPr id="2" name="Group 8">
            <a:extLst>
              <a:ext uri="{FF2B5EF4-FFF2-40B4-BE49-F238E27FC236}">
                <a16:creationId xmlns:a16="http://schemas.microsoft.com/office/drawing/2014/main" id="{14143A0E-27AC-2852-6CFC-364C87007B75}"/>
              </a:ext>
            </a:extLst>
          </p:cNvPr>
          <p:cNvGrpSpPr/>
          <p:nvPr/>
        </p:nvGrpSpPr>
        <p:grpSpPr>
          <a:xfrm>
            <a:off x="1" y="6595354"/>
            <a:ext cx="12191999" cy="304799"/>
            <a:chOff x="0" y="0"/>
            <a:chExt cx="1979097" cy="2709333"/>
          </a:xfrm>
        </p:grpSpPr>
        <p:sp>
          <p:nvSpPr>
            <p:cNvPr id="3" name="Freeform 9">
              <a:extLst>
                <a:ext uri="{FF2B5EF4-FFF2-40B4-BE49-F238E27FC236}">
                  <a16:creationId xmlns:a16="http://schemas.microsoft.com/office/drawing/2014/main" id="{4A2BEE6A-7420-BD41-4A9E-3FADD027CBDF}"/>
                </a:ext>
              </a:extLst>
            </p:cNvPr>
            <p:cNvSpPr/>
            <p:nvPr/>
          </p:nvSpPr>
          <p:spPr>
            <a:xfrm>
              <a:off x="0" y="0"/>
              <a:ext cx="1979097" cy="2709333"/>
            </a:xfrm>
            <a:custGeom>
              <a:avLst/>
              <a:gdLst/>
              <a:ahLst/>
              <a:cxnLst/>
              <a:rect l="l" t="t" r="r" b="b"/>
              <a:pathLst>
                <a:path w="1979097" h="2709333">
                  <a:moveTo>
                    <a:pt x="0" y="0"/>
                  </a:moveTo>
                  <a:lnTo>
                    <a:pt x="1979097" y="0"/>
                  </a:lnTo>
                  <a:lnTo>
                    <a:pt x="1979097" y="2709333"/>
                  </a:lnTo>
                  <a:lnTo>
                    <a:pt x="0" y="2709333"/>
                  </a:lnTo>
                  <a:close/>
                </a:path>
              </a:pathLst>
            </a:custGeom>
            <a:gradFill rotWithShape="1">
              <a:gsLst>
                <a:gs pos="0">
                  <a:srgbClr val="001557">
                    <a:alpha val="100000"/>
                  </a:srgbClr>
                </a:gs>
                <a:gs pos="100000">
                  <a:srgbClr val="153DB6">
                    <a:alpha val="100000"/>
                  </a:srgbClr>
                </a:gs>
              </a:gsLst>
              <a:lin ang="0"/>
            </a:gradFill>
          </p:spPr>
          <p:txBody>
            <a:bodyPr/>
            <a:lstStyle/>
            <a:p>
              <a:endParaRPr lang="en-US"/>
            </a:p>
          </p:txBody>
        </p:sp>
        <p:sp>
          <p:nvSpPr>
            <p:cNvPr id="4" name="TextBox 10">
              <a:extLst>
                <a:ext uri="{FF2B5EF4-FFF2-40B4-BE49-F238E27FC236}">
                  <a16:creationId xmlns:a16="http://schemas.microsoft.com/office/drawing/2014/main" id="{3B9B5CB0-4C92-4768-E624-AAA15B4DF999}"/>
                </a:ext>
              </a:extLst>
            </p:cNvPr>
            <p:cNvSpPr txBox="1"/>
            <p:nvPr/>
          </p:nvSpPr>
          <p:spPr>
            <a:xfrm>
              <a:off x="0" y="19050"/>
              <a:ext cx="1979097" cy="2690283"/>
            </a:xfrm>
            <a:prstGeom prst="rect">
              <a:avLst/>
            </a:prstGeom>
          </p:spPr>
          <p:txBody>
            <a:bodyPr lIns="50800" tIns="50800" rIns="50800" bIns="50800" rtlCol="0" anchor="ctr"/>
            <a:lstStyle/>
            <a:p>
              <a:pPr algn="ctr">
                <a:lnSpc>
                  <a:spcPts val="1456"/>
                </a:lnSpc>
              </a:pPr>
              <a:endParaRPr/>
            </a:p>
          </p:txBody>
        </p:sp>
      </p:grpSp>
      <p:sp>
        <p:nvSpPr>
          <p:cNvPr id="6" name="TextBox 5">
            <a:extLst>
              <a:ext uri="{FF2B5EF4-FFF2-40B4-BE49-F238E27FC236}">
                <a16:creationId xmlns:a16="http://schemas.microsoft.com/office/drawing/2014/main" id="{519E53CB-0444-9417-846E-F2677495FB46}"/>
              </a:ext>
            </a:extLst>
          </p:cNvPr>
          <p:cNvSpPr txBox="1"/>
          <p:nvPr/>
        </p:nvSpPr>
        <p:spPr>
          <a:xfrm>
            <a:off x="143626" y="6627644"/>
            <a:ext cx="303519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rgbClr val="FFFFFF"/>
                </a:solidFill>
                <a:ea typeface="Inter Semi-Bold"/>
              </a:rPr>
              <a:t>© Complyance Inc 2021 - 2026</a:t>
            </a:r>
            <a:endParaRPr lang="en-US" sz="1000" dirty="0">
              <a:ea typeface="Inter Semi-Bold"/>
            </a:endParaRPr>
          </a:p>
        </p:txBody>
      </p:sp>
      <p:sp>
        <p:nvSpPr>
          <p:cNvPr id="7" name="TextBox 2">
            <a:extLst>
              <a:ext uri="{FF2B5EF4-FFF2-40B4-BE49-F238E27FC236}">
                <a16:creationId xmlns:a16="http://schemas.microsoft.com/office/drawing/2014/main" id="{57DBB2EA-7DB2-061E-C5D9-61CB4B3D3EFC}"/>
              </a:ext>
            </a:extLst>
          </p:cNvPr>
          <p:cNvSpPr txBox="1"/>
          <p:nvPr/>
        </p:nvSpPr>
        <p:spPr>
          <a:xfrm>
            <a:off x="302446" y="458242"/>
            <a:ext cx="6157928" cy="492443"/>
          </a:xfrm>
          <a:prstGeom prst="rect">
            <a:avLst/>
          </a:prstGeom>
        </p:spPr>
        <p:txBody>
          <a:bodyPr wrap="square" lIns="0" tIns="0" rIns="0" bIns="0" rtlCol="0" anchor="t">
            <a:spAutoFit/>
          </a:bodyPr>
          <a:lstStyle/>
          <a:p>
            <a:r>
              <a:rPr lang="en-US" sz="3200" b="1" dirty="0">
                <a:latin typeface="Times New Roman" panose="02020603050405020304" pitchFamily="18" charset="0"/>
                <a:ea typeface="ＭＳ Ｐゴシック" pitchFamily="1" charset="-128"/>
                <a:cs typeface="Times New Roman" panose="02020603050405020304" pitchFamily="18" charset="0"/>
              </a:rPr>
              <a:t>TECHNICAL APPROACH</a:t>
            </a:r>
            <a:endParaRPr lang="en-US" sz="3500" b="1" dirty="0">
              <a:solidFill>
                <a:srgbClr val="030303"/>
              </a:solidFill>
              <a:latin typeface="+mj-lt"/>
              <a:ea typeface="Helvetica Neue" panose="02000503000000020004" pitchFamily="2" charset="0"/>
              <a:cs typeface="Helvetica Neue" panose="02000503000000020004" pitchFamily="2" charset="0"/>
              <a:sym typeface="Inter Bold"/>
            </a:endParaRPr>
          </a:p>
        </p:txBody>
      </p:sp>
      <p:sp>
        <p:nvSpPr>
          <p:cNvPr id="8" name="TextBox 11">
            <a:extLst>
              <a:ext uri="{FF2B5EF4-FFF2-40B4-BE49-F238E27FC236}">
                <a16:creationId xmlns:a16="http://schemas.microsoft.com/office/drawing/2014/main" id="{995C10C1-CD59-3402-4689-CE129ECE3B9A}"/>
              </a:ext>
            </a:extLst>
          </p:cNvPr>
          <p:cNvSpPr txBox="1"/>
          <p:nvPr/>
        </p:nvSpPr>
        <p:spPr>
          <a:xfrm>
            <a:off x="302446" y="1159359"/>
            <a:ext cx="11240625" cy="4616648"/>
          </a:xfrm>
          <a:prstGeom prst="rect">
            <a:avLst/>
          </a:prstGeom>
        </p:spPr>
        <p:txBody>
          <a:bodyPr wrap="square" lIns="0" tIns="0" rIns="0" bIns="0" rtlCol="0" anchor="t">
            <a:spAutoFit/>
          </a:bodyPr>
          <a:lstStyle/>
          <a:p>
            <a:pPr algn="just"/>
            <a:r>
              <a:rPr lang="en-US" sz="2000" b="1" dirty="0">
                <a:latin typeface="+mj-lt"/>
              </a:rPr>
              <a:t>Technologies to be used:</a:t>
            </a:r>
            <a:endParaRPr lang="en-US" sz="2000" dirty="0">
              <a:latin typeface="+mj-lt"/>
            </a:endParaRPr>
          </a:p>
          <a:p>
            <a:pPr marL="342900" indent="-342900" algn="just">
              <a:buFont typeface="Arial" panose="020B0604020202020204" pitchFamily="34" charset="0"/>
              <a:buChar char="•"/>
            </a:pPr>
            <a:r>
              <a:rPr lang="en-US" sz="2000" b="1" dirty="0">
                <a:latin typeface="+mj-lt"/>
              </a:rPr>
              <a:t>Data Synthesis:</a:t>
            </a:r>
            <a:r>
              <a:rPr lang="en-US" sz="2000" dirty="0">
                <a:latin typeface="+mj-lt"/>
              </a:rPr>
              <a:t> Python, Pandas, NumPy, Faker, SDV (Synthetic Data Vault).</a:t>
            </a:r>
          </a:p>
          <a:p>
            <a:pPr marL="342900" indent="-342900" algn="just">
              <a:buFont typeface="Arial" panose="020B0604020202020204" pitchFamily="34" charset="0"/>
              <a:buChar char="•"/>
            </a:pPr>
            <a:r>
              <a:rPr lang="en-US" sz="2000" b="1" dirty="0">
                <a:latin typeface="+mj-lt"/>
              </a:rPr>
              <a:t>Feature Engineering &amp; ML:</a:t>
            </a:r>
            <a:r>
              <a:rPr lang="en-US" sz="2000" dirty="0">
                <a:latin typeface="+mj-lt"/>
              </a:rPr>
              <a:t> Scikit-Learn (Isolation Forest, Local Outlier Factor).</a:t>
            </a:r>
          </a:p>
          <a:p>
            <a:pPr marL="342900" indent="-342900" algn="just">
              <a:buFont typeface="Arial" panose="020B0604020202020204" pitchFamily="34" charset="0"/>
              <a:buChar char="•"/>
            </a:pPr>
            <a:r>
              <a:rPr lang="en-US" sz="2000" b="1" dirty="0">
                <a:latin typeface="+mj-lt"/>
              </a:rPr>
              <a:t>Explainable AI (XAI):</a:t>
            </a:r>
            <a:r>
              <a:rPr lang="en-US" sz="2000" dirty="0">
                <a:latin typeface="+mj-lt"/>
              </a:rPr>
              <a:t> SHAP (</a:t>
            </a:r>
            <a:r>
              <a:rPr lang="en-US" sz="2000" dirty="0" err="1">
                <a:latin typeface="+mj-lt"/>
              </a:rPr>
              <a:t>SHapley</a:t>
            </a:r>
            <a:r>
              <a:rPr lang="en-US" sz="2000" dirty="0">
                <a:latin typeface="+mj-lt"/>
              </a:rPr>
              <a:t> Additive </a:t>
            </a:r>
            <a:r>
              <a:rPr lang="en-US" sz="2000" dirty="0" err="1">
                <a:latin typeface="+mj-lt"/>
              </a:rPr>
              <a:t>exPlanations</a:t>
            </a:r>
            <a:r>
              <a:rPr lang="en-US" sz="2000" dirty="0">
                <a:latin typeface="+mj-lt"/>
              </a:rPr>
              <a:t>).</a:t>
            </a:r>
          </a:p>
          <a:p>
            <a:pPr marL="342900" indent="-342900" algn="just">
              <a:buFont typeface="Arial" panose="020B0604020202020204" pitchFamily="34" charset="0"/>
              <a:buChar char="•"/>
            </a:pPr>
            <a:r>
              <a:rPr lang="en-US" sz="2000" b="1" dirty="0">
                <a:latin typeface="+mj-lt"/>
              </a:rPr>
              <a:t>Serving/API:</a:t>
            </a:r>
            <a:r>
              <a:rPr lang="en-US" sz="2000" dirty="0">
                <a:latin typeface="+mj-lt"/>
              </a:rPr>
              <a:t> </a:t>
            </a:r>
            <a:r>
              <a:rPr lang="en-US" sz="2000" dirty="0" err="1">
                <a:latin typeface="+mj-lt"/>
              </a:rPr>
              <a:t>FastAPI</a:t>
            </a:r>
            <a:r>
              <a:rPr lang="en-US" sz="2000" dirty="0">
                <a:latin typeface="+mj-lt"/>
              </a:rPr>
              <a:t> (for lightweight inference endpoints).</a:t>
            </a:r>
          </a:p>
          <a:p>
            <a:pPr marL="342900" indent="-342900" algn="just">
              <a:buFont typeface="Arial" panose="020B0604020202020204" pitchFamily="34" charset="0"/>
              <a:buChar char="•"/>
            </a:pPr>
            <a:endParaRPr lang="en-US" sz="2000" dirty="0">
              <a:latin typeface="+mj-lt"/>
            </a:endParaRPr>
          </a:p>
          <a:p>
            <a:pPr algn="just"/>
            <a:r>
              <a:rPr lang="en-US" sz="2000" b="1" dirty="0">
                <a:latin typeface="+mj-lt"/>
              </a:rPr>
              <a:t>Justification of the mentioned tech stack:</a:t>
            </a:r>
            <a:endParaRPr lang="en-US" sz="2000" dirty="0">
              <a:latin typeface="+mj-lt"/>
            </a:endParaRPr>
          </a:p>
          <a:p>
            <a:pPr marL="342900" indent="-342900" algn="just">
              <a:buFont typeface="Arial" panose="020B0604020202020204" pitchFamily="34" charset="0"/>
              <a:buChar char="•"/>
            </a:pPr>
            <a:r>
              <a:rPr lang="en-US" sz="2000" b="1" dirty="0">
                <a:latin typeface="+mj-lt"/>
              </a:rPr>
              <a:t>Python Ecosystem:</a:t>
            </a:r>
            <a:r>
              <a:rPr lang="en-US" sz="2000" dirty="0">
                <a:latin typeface="+mj-lt"/>
              </a:rPr>
              <a:t> The industry standard for robust statistical modeling and classical ML.</a:t>
            </a:r>
          </a:p>
          <a:p>
            <a:pPr marL="342900" indent="-342900" algn="just">
              <a:buFont typeface="Arial" panose="020B0604020202020204" pitchFamily="34" charset="0"/>
              <a:buChar char="•"/>
            </a:pPr>
            <a:r>
              <a:rPr lang="en-US" sz="2000" b="1" dirty="0">
                <a:latin typeface="+mj-lt"/>
              </a:rPr>
              <a:t>Isolation Forest:</a:t>
            </a:r>
            <a:r>
              <a:rPr lang="en-US" sz="2000" dirty="0">
                <a:latin typeface="+mj-lt"/>
              </a:rPr>
              <a:t> Specifically chosen because it is highly efficient for unsupervised anomaly detection. It excels at finding outliers in high-dimensional datasets without requiring perfectly balanced, pre-labeled data.</a:t>
            </a:r>
          </a:p>
          <a:p>
            <a:pPr marL="342900" indent="-342900" algn="just">
              <a:buFont typeface="Arial" panose="020B0604020202020204" pitchFamily="34" charset="0"/>
              <a:buChar char="•"/>
            </a:pPr>
            <a:r>
              <a:rPr lang="en-US" sz="2000" b="1" dirty="0">
                <a:latin typeface="+mj-lt"/>
              </a:rPr>
              <a:t>SHAP:</a:t>
            </a:r>
            <a:r>
              <a:rPr lang="en-US" sz="2000" dirty="0">
                <a:latin typeface="+mj-lt"/>
              </a:rPr>
              <a:t> Fulfils the "explain why" requirement flawlessly. It provides exact feature contribution metrics without the hallucinations or high latency associated with LLMs.</a:t>
            </a:r>
          </a:p>
          <a:p>
            <a:pPr marL="342900" indent="-342900" algn="just">
              <a:buFont typeface="Arial" panose="020B0604020202020204" pitchFamily="34" charset="0"/>
              <a:buChar char="•"/>
            </a:pPr>
            <a:r>
              <a:rPr lang="en-US" sz="2000" b="1" dirty="0">
                <a:latin typeface="+mj-lt"/>
              </a:rPr>
              <a:t>SDV &amp; Faker:</a:t>
            </a:r>
            <a:r>
              <a:rPr lang="en-US" sz="2000" dirty="0">
                <a:latin typeface="+mj-lt"/>
              </a:rPr>
              <a:t> Allows us to programmatically generate the 80/20 ratio of normal to anomalous data, perfectly adhering to the 8 required anomaly types constraints.</a:t>
            </a:r>
          </a:p>
        </p:txBody>
      </p:sp>
      <p:pic>
        <p:nvPicPr>
          <p:cNvPr id="16" name="Picture 15" descr="A black text on a white background&#10;&#10;AI-generated content may be incorrect.">
            <a:extLst>
              <a:ext uri="{FF2B5EF4-FFF2-40B4-BE49-F238E27FC236}">
                <a16:creationId xmlns:a16="http://schemas.microsoft.com/office/drawing/2014/main" id="{6A53B106-EC3A-267D-2C16-1B10EA2D416F}"/>
              </a:ext>
            </a:extLst>
          </p:cNvPr>
          <p:cNvPicPr>
            <a:picLocks noChangeAspect="1"/>
          </p:cNvPicPr>
          <p:nvPr/>
        </p:nvPicPr>
        <p:blipFill>
          <a:blip r:embed="rId2"/>
          <a:stretch>
            <a:fillRect/>
          </a:stretch>
        </p:blipFill>
        <p:spPr>
          <a:xfrm>
            <a:off x="9790173" y="155174"/>
            <a:ext cx="2204133" cy="572372"/>
          </a:xfrm>
          <a:prstGeom prst="rect">
            <a:avLst/>
          </a:prstGeom>
          <a:ln>
            <a:noFill/>
          </a:ln>
        </p:spPr>
      </p:pic>
      <p:sp>
        <p:nvSpPr>
          <p:cNvPr id="22" name="TextBox 21">
            <a:extLst>
              <a:ext uri="{FF2B5EF4-FFF2-40B4-BE49-F238E27FC236}">
                <a16:creationId xmlns:a16="http://schemas.microsoft.com/office/drawing/2014/main" id="{89467C29-646D-D13C-B9E4-09CA39117AA6}"/>
              </a:ext>
            </a:extLst>
          </p:cNvPr>
          <p:cNvSpPr txBox="1"/>
          <p:nvPr/>
        </p:nvSpPr>
        <p:spPr>
          <a:xfrm>
            <a:off x="11392448" y="6608625"/>
            <a:ext cx="60185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000" dirty="0">
                <a:solidFill>
                  <a:schemeClr val="bg1"/>
                </a:solidFill>
                <a:ea typeface="Inter Semi-Bold"/>
              </a:rPr>
              <a:t>03</a:t>
            </a:r>
          </a:p>
        </p:txBody>
      </p:sp>
    </p:spTree>
    <p:extLst>
      <p:ext uri="{BB962C8B-B14F-4D97-AF65-F5344CB8AC3E}">
        <p14:creationId xmlns:p14="http://schemas.microsoft.com/office/powerpoint/2010/main" val="10509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8682D-276E-96B4-7BAE-0712E294CB3C}"/>
            </a:ext>
          </a:extLst>
        </p:cNvPr>
        <p:cNvGrpSpPr/>
        <p:nvPr/>
      </p:nvGrpSpPr>
      <p:grpSpPr>
        <a:xfrm>
          <a:off x="0" y="0"/>
          <a:ext cx="0" cy="0"/>
          <a:chOff x="0" y="0"/>
          <a:chExt cx="0" cy="0"/>
        </a:xfrm>
      </p:grpSpPr>
      <p:grpSp>
        <p:nvGrpSpPr>
          <p:cNvPr id="2" name="Group 8">
            <a:extLst>
              <a:ext uri="{FF2B5EF4-FFF2-40B4-BE49-F238E27FC236}">
                <a16:creationId xmlns:a16="http://schemas.microsoft.com/office/drawing/2014/main" id="{AB4EF2EB-9CB2-5B15-A7FF-5D434A6B4F58}"/>
              </a:ext>
            </a:extLst>
          </p:cNvPr>
          <p:cNvGrpSpPr/>
          <p:nvPr/>
        </p:nvGrpSpPr>
        <p:grpSpPr>
          <a:xfrm>
            <a:off x="1" y="6595354"/>
            <a:ext cx="12191999" cy="304799"/>
            <a:chOff x="0" y="0"/>
            <a:chExt cx="1979097" cy="2709333"/>
          </a:xfrm>
        </p:grpSpPr>
        <p:sp>
          <p:nvSpPr>
            <p:cNvPr id="3" name="Freeform 9">
              <a:extLst>
                <a:ext uri="{FF2B5EF4-FFF2-40B4-BE49-F238E27FC236}">
                  <a16:creationId xmlns:a16="http://schemas.microsoft.com/office/drawing/2014/main" id="{2A4D6659-B4F7-AFCB-7675-B25B80C1E14B}"/>
                </a:ext>
              </a:extLst>
            </p:cNvPr>
            <p:cNvSpPr/>
            <p:nvPr/>
          </p:nvSpPr>
          <p:spPr>
            <a:xfrm>
              <a:off x="0" y="0"/>
              <a:ext cx="1979097" cy="2709333"/>
            </a:xfrm>
            <a:custGeom>
              <a:avLst/>
              <a:gdLst/>
              <a:ahLst/>
              <a:cxnLst/>
              <a:rect l="l" t="t" r="r" b="b"/>
              <a:pathLst>
                <a:path w="1979097" h="2709333">
                  <a:moveTo>
                    <a:pt x="0" y="0"/>
                  </a:moveTo>
                  <a:lnTo>
                    <a:pt x="1979097" y="0"/>
                  </a:lnTo>
                  <a:lnTo>
                    <a:pt x="1979097" y="2709333"/>
                  </a:lnTo>
                  <a:lnTo>
                    <a:pt x="0" y="2709333"/>
                  </a:lnTo>
                  <a:close/>
                </a:path>
              </a:pathLst>
            </a:custGeom>
            <a:gradFill rotWithShape="1">
              <a:gsLst>
                <a:gs pos="0">
                  <a:srgbClr val="001557">
                    <a:alpha val="100000"/>
                  </a:srgbClr>
                </a:gs>
                <a:gs pos="100000">
                  <a:srgbClr val="153DB6">
                    <a:alpha val="100000"/>
                  </a:srgbClr>
                </a:gs>
              </a:gsLst>
              <a:lin ang="0"/>
            </a:gradFill>
          </p:spPr>
          <p:txBody>
            <a:bodyPr/>
            <a:lstStyle/>
            <a:p>
              <a:endParaRPr lang="en-US"/>
            </a:p>
          </p:txBody>
        </p:sp>
        <p:sp>
          <p:nvSpPr>
            <p:cNvPr id="4" name="TextBox 10">
              <a:extLst>
                <a:ext uri="{FF2B5EF4-FFF2-40B4-BE49-F238E27FC236}">
                  <a16:creationId xmlns:a16="http://schemas.microsoft.com/office/drawing/2014/main" id="{4324404A-1754-4592-F199-F55A0EE05D64}"/>
                </a:ext>
              </a:extLst>
            </p:cNvPr>
            <p:cNvSpPr txBox="1"/>
            <p:nvPr/>
          </p:nvSpPr>
          <p:spPr>
            <a:xfrm>
              <a:off x="0" y="19050"/>
              <a:ext cx="1979097" cy="2690283"/>
            </a:xfrm>
            <a:prstGeom prst="rect">
              <a:avLst/>
            </a:prstGeom>
          </p:spPr>
          <p:txBody>
            <a:bodyPr lIns="50800" tIns="50800" rIns="50800" bIns="50800" rtlCol="0" anchor="ctr"/>
            <a:lstStyle/>
            <a:p>
              <a:pPr algn="ctr">
                <a:lnSpc>
                  <a:spcPts val="1456"/>
                </a:lnSpc>
              </a:pPr>
              <a:endParaRPr/>
            </a:p>
          </p:txBody>
        </p:sp>
      </p:grpSp>
      <p:sp>
        <p:nvSpPr>
          <p:cNvPr id="6" name="TextBox 5">
            <a:extLst>
              <a:ext uri="{FF2B5EF4-FFF2-40B4-BE49-F238E27FC236}">
                <a16:creationId xmlns:a16="http://schemas.microsoft.com/office/drawing/2014/main" id="{37849B11-EE13-4B35-EFE5-F2374CAD42CB}"/>
              </a:ext>
            </a:extLst>
          </p:cNvPr>
          <p:cNvSpPr txBox="1"/>
          <p:nvPr/>
        </p:nvSpPr>
        <p:spPr>
          <a:xfrm>
            <a:off x="143626" y="6627644"/>
            <a:ext cx="303519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rgbClr val="FFFFFF"/>
                </a:solidFill>
                <a:ea typeface="Inter Semi-Bold"/>
              </a:rPr>
              <a:t>© Complyance Inc 2021 - 2026</a:t>
            </a:r>
            <a:endParaRPr lang="en-US" sz="1000" dirty="0">
              <a:ea typeface="Inter Semi-Bold"/>
            </a:endParaRPr>
          </a:p>
        </p:txBody>
      </p:sp>
      <p:sp>
        <p:nvSpPr>
          <p:cNvPr id="7" name="TextBox 2">
            <a:extLst>
              <a:ext uri="{FF2B5EF4-FFF2-40B4-BE49-F238E27FC236}">
                <a16:creationId xmlns:a16="http://schemas.microsoft.com/office/drawing/2014/main" id="{A299E62A-248C-F2D1-A3FA-2A9C3BBB9493}"/>
              </a:ext>
            </a:extLst>
          </p:cNvPr>
          <p:cNvSpPr txBox="1"/>
          <p:nvPr/>
        </p:nvSpPr>
        <p:spPr>
          <a:xfrm>
            <a:off x="302446" y="458242"/>
            <a:ext cx="6157928" cy="492443"/>
          </a:xfrm>
          <a:prstGeom prst="rect">
            <a:avLst/>
          </a:prstGeom>
        </p:spPr>
        <p:txBody>
          <a:bodyPr wrap="square" lIns="0" tIns="0" rIns="0" bIns="0" rtlCol="0" anchor="t">
            <a:spAutoFit/>
          </a:bodyPr>
          <a:lstStyle/>
          <a:p>
            <a:r>
              <a:rPr lang="en-US" sz="3200" b="1" dirty="0">
                <a:latin typeface="Times New Roman" panose="02020603050405020304" pitchFamily="18" charset="0"/>
                <a:ea typeface="ＭＳ Ｐゴシック" pitchFamily="1" charset="-128"/>
                <a:cs typeface="Times New Roman" panose="02020603050405020304" pitchFamily="18" charset="0"/>
              </a:rPr>
              <a:t>IMPLEMENTATION FLOW</a:t>
            </a:r>
            <a:endParaRPr lang="en-US" sz="3500" b="1" dirty="0">
              <a:solidFill>
                <a:srgbClr val="030303"/>
              </a:solidFill>
              <a:latin typeface="+mj-lt"/>
              <a:ea typeface="Helvetica Neue" panose="02000503000000020004" pitchFamily="2" charset="0"/>
              <a:cs typeface="Helvetica Neue" panose="02000503000000020004" pitchFamily="2" charset="0"/>
              <a:sym typeface="Inter Bold"/>
            </a:endParaRPr>
          </a:p>
        </p:txBody>
      </p:sp>
      <p:sp>
        <p:nvSpPr>
          <p:cNvPr id="8" name="TextBox 11">
            <a:extLst>
              <a:ext uri="{FF2B5EF4-FFF2-40B4-BE49-F238E27FC236}">
                <a16:creationId xmlns:a16="http://schemas.microsoft.com/office/drawing/2014/main" id="{8A7DD878-50B2-045B-ED16-F2FA688065FA}"/>
              </a:ext>
            </a:extLst>
          </p:cNvPr>
          <p:cNvSpPr txBox="1"/>
          <p:nvPr/>
        </p:nvSpPr>
        <p:spPr>
          <a:xfrm>
            <a:off x="302446" y="1129857"/>
            <a:ext cx="11090002" cy="4001095"/>
          </a:xfrm>
          <a:prstGeom prst="rect">
            <a:avLst/>
          </a:prstGeom>
        </p:spPr>
        <p:txBody>
          <a:bodyPr wrap="square" lIns="0" tIns="0" rIns="0" bIns="0" rtlCol="0" anchor="t">
            <a:spAutoFit/>
          </a:bodyPr>
          <a:lstStyle/>
          <a:p>
            <a:r>
              <a:rPr lang="en-US" sz="2000" b="1" dirty="0">
                <a:latin typeface="+mj-lt"/>
              </a:rPr>
              <a:t>Methodology and process for the implementation:</a:t>
            </a:r>
          </a:p>
          <a:p>
            <a:endParaRPr lang="en-US" sz="2000" dirty="0">
              <a:latin typeface="+mj-lt"/>
            </a:endParaRPr>
          </a:p>
          <a:p>
            <a:pPr marL="342900" indent="-342900">
              <a:buFont typeface="Arial" panose="020B0604020202020204" pitchFamily="34" charset="0"/>
              <a:buChar char="•"/>
            </a:pPr>
            <a:r>
              <a:rPr lang="en-US" sz="2000" b="1" dirty="0">
                <a:latin typeface="+mj-lt"/>
              </a:rPr>
              <a:t>Data Generation Phase:</a:t>
            </a:r>
            <a:r>
              <a:rPr lang="en-US" sz="2000" dirty="0">
                <a:latin typeface="+mj-lt"/>
              </a:rPr>
              <a:t> Build scripts to generate 50 sellers and 200 buyers. Generate 5,000 training invoices (80% normal behavior). Inject 20% anomalies mapping exactly to the 8 required classes (e.g., </a:t>
            </a:r>
            <a:r>
              <a:rPr lang="en-US" sz="2000" dirty="0" err="1">
                <a:latin typeface="+mj-lt"/>
              </a:rPr>
              <a:t>amount_outlier</a:t>
            </a:r>
            <a:r>
              <a:rPr lang="en-US" sz="2000" dirty="0">
                <a:latin typeface="+mj-lt"/>
              </a:rPr>
              <a:t>, </a:t>
            </a:r>
            <a:r>
              <a:rPr lang="en-US" sz="2000" dirty="0" err="1">
                <a:latin typeface="+mj-lt"/>
              </a:rPr>
              <a:t>invoice_burst</a:t>
            </a:r>
            <a:r>
              <a:rPr lang="en-US" sz="2000" dirty="0">
                <a:latin typeface="+mj-lt"/>
              </a:rPr>
              <a:t>).</a:t>
            </a:r>
          </a:p>
          <a:p>
            <a:pPr marL="342900" indent="-342900">
              <a:buFont typeface="Arial" panose="020B0604020202020204" pitchFamily="34" charset="0"/>
              <a:buChar char="•"/>
            </a:pPr>
            <a:r>
              <a:rPr lang="en-US" sz="2000" b="1" dirty="0">
                <a:latin typeface="+mj-lt"/>
              </a:rPr>
              <a:t>Feature Engineering:</a:t>
            </a:r>
            <a:r>
              <a:rPr lang="en-US" sz="2000" dirty="0">
                <a:latin typeface="+mj-lt"/>
              </a:rPr>
              <a:t> Transform raw data into trainable features (e.g., converting dates into cyclical sine/cosine time features, calculating </a:t>
            </a:r>
            <a:r>
              <a:rPr lang="en-US" sz="2000" dirty="0" err="1">
                <a:latin typeface="+mj-lt"/>
              </a:rPr>
              <a:t>subtotal_to_tax_ratio</a:t>
            </a:r>
            <a:r>
              <a:rPr lang="en-US" sz="2000" dirty="0">
                <a:latin typeface="+mj-lt"/>
              </a:rPr>
              <a:t>, mapping historical buyer-seller frequencies).</a:t>
            </a:r>
          </a:p>
          <a:p>
            <a:pPr marL="342900" indent="-342900">
              <a:buFont typeface="Arial" panose="020B0604020202020204" pitchFamily="34" charset="0"/>
              <a:buChar char="•"/>
            </a:pPr>
            <a:r>
              <a:rPr lang="en-US" sz="2000" b="1" dirty="0">
                <a:latin typeface="+mj-lt"/>
              </a:rPr>
              <a:t>Model Training:</a:t>
            </a:r>
            <a:r>
              <a:rPr lang="en-US" sz="2000" dirty="0">
                <a:latin typeface="+mj-lt"/>
              </a:rPr>
              <a:t> Train the Isolation Forest model strictly on the engineered features to learn the baseline multidimensional "normal".</a:t>
            </a:r>
          </a:p>
          <a:p>
            <a:pPr marL="342900" indent="-342900">
              <a:buFont typeface="Arial" panose="020B0604020202020204" pitchFamily="34" charset="0"/>
              <a:buChar char="•"/>
            </a:pPr>
            <a:r>
              <a:rPr lang="en-US" sz="2000" b="1" dirty="0">
                <a:latin typeface="+mj-lt"/>
              </a:rPr>
              <a:t>Scoring &amp; Thresholding:</a:t>
            </a:r>
            <a:r>
              <a:rPr lang="en-US" sz="2000" dirty="0">
                <a:latin typeface="+mj-lt"/>
              </a:rPr>
              <a:t> Pass the 1,000 test invoices through the model. Normalize the outputs into an intuitive 0-100 Anomaly Score.</a:t>
            </a:r>
          </a:p>
          <a:p>
            <a:pPr marL="342900" indent="-342900">
              <a:buFont typeface="Arial" panose="020B0604020202020204" pitchFamily="34" charset="0"/>
              <a:buChar char="•"/>
            </a:pPr>
            <a:r>
              <a:rPr lang="en-US" sz="2000" b="1" dirty="0">
                <a:latin typeface="+mj-lt"/>
              </a:rPr>
              <a:t>Reason Extraction:</a:t>
            </a:r>
            <a:r>
              <a:rPr lang="en-US" sz="2000" dirty="0">
                <a:latin typeface="+mj-lt"/>
              </a:rPr>
              <a:t> Pass flagged anomalies through the SHAP explainer to extract the top 2-3 deviating features to present to the human reviewer.</a:t>
            </a:r>
          </a:p>
        </p:txBody>
      </p:sp>
      <p:pic>
        <p:nvPicPr>
          <p:cNvPr id="16" name="Picture 15" descr="A black text on a white background&#10;&#10;AI-generated content may be incorrect.">
            <a:extLst>
              <a:ext uri="{FF2B5EF4-FFF2-40B4-BE49-F238E27FC236}">
                <a16:creationId xmlns:a16="http://schemas.microsoft.com/office/drawing/2014/main" id="{AB57E0BE-B449-4855-EBF4-0D245D7CA0D1}"/>
              </a:ext>
            </a:extLst>
          </p:cNvPr>
          <p:cNvPicPr>
            <a:picLocks noChangeAspect="1"/>
          </p:cNvPicPr>
          <p:nvPr/>
        </p:nvPicPr>
        <p:blipFill>
          <a:blip r:embed="rId2"/>
          <a:stretch>
            <a:fillRect/>
          </a:stretch>
        </p:blipFill>
        <p:spPr>
          <a:xfrm>
            <a:off x="9790173" y="155174"/>
            <a:ext cx="2204133" cy="572372"/>
          </a:xfrm>
          <a:prstGeom prst="rect">
            <a:avLst/>
          </a:prstGeom>
          <a:ln>
            <a:noFill/>
          </a:ln>
        </p:spPr>
      </p:pic>
      <p:sp>
        <p:nvSpPr>
          <p:cNvPr id="22" name="TextBox 21">
            <a:extLst>
              <a:ext uri="{FF2B5EF4-FFF2-40B4-BE49-F238E27FC236}">
                <a16:creationId xmlns:a16="http://schemas.microsoft.com/office/drawing/2014/main" id="{A4B7AC28-78D1-76C9-32C4-0493B74C74A7}"/>
              </a:ext>
            </a:extLst>
          </p:cNvPr>
          <p:cNvSpPr txBox="1"/>
          <p:nvPr/>
        </p:nvSpPr>
        <p:spPr>
          <a:xfrm>
            <a:off x="11392448" y="6608625"/>
            <a:ext cx="60185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000" dirty="0">
                <a:solidFill>
                  <a:schemeClr val="bg1"/>
                </a:solidFill>
                <a:ea typeface="Inter Semi-Bold"/>
              </a:rPr>
              <a:t>04</a:t>
            </a:r>
          </a:p>
        </p:txBody>
      </p:sp>
    </p:spTree>
    <p:extLst>
      <p:ext uri="{BB962C8B-B14F-4D97-AF65-F5344CB8AC3E}">
        <p14:creationId xmlns:p14="http://schemas.microsoft.com/office/powerpoint/2010/main" val="253119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5A2C5-EAB7-009F-97A3-2F715A131480}"/>
            </a:ext>
          </a:extLst>
        </p:cNvPr>
        <p:cNvGrpSpPr/>
        <p:nvPr/>
      </p:nvGrpSpPr>
      <p:grpSpPr>
        <a:xfrm>
          <a:off x="0" y="0"/>
          <a:ext cx="0" cy="0"/>
          <a:chOff x="0" y="0"/>
          <a:chExt cx="0" cy="0"/>
        </a:xfrm>
      </p:grpSpPr>
      <p:grpSp>
        <p:nvGrpSpPr>
          <p:cNvPr id="2" name="Group 8">
            <a:extLst>
              <a:ext uri="{FF2B5EF4-FFF2-40B4-BE49-F238E27FC236}">
                <a16:creationId xmlns:a16="http://schemas.microsoft.com/office/drawing/2014/main" id="{817ADF59-EC35-CADD-9690-77F1CCB2FCA1}"/>
              </a:ext>
            </a:extLst>
          </p:cNvPr>
          <p:cNvGrpSpPr/>
          <p:nvPr/>
        </p:nvGrpSpPr>
        <p:grpSpPr>
          <a:xfrm>
            <a:off x="1" y="6595354"/>
            <a:ext cx="12191999" cy="304799"/>
            <a:chOff x="0" y="0"/>
            <a:chExt cx="1979097" cy="2709333"/>
          </a:xfrm>
        </p:grpSpPr>
        <p:sp>
          <p:nvSpPr>
            <p:cNvPr id="3" name="Freeform 9">
              <a:extLst>
                <a:ext uri="{FF2B5EF4-FFF2-40B4-BE49-F238E27FC236}">
                  <a16:creationId xmlns:a16="http://schemas.microsoft.com/office/drawing/2014/main" id="{B4438299-ACD8-BCB7-C1A8-95003922C2BF}"/>
                </a:ext>
              </a:extLst>
            </p:cNvPr>
            <p:cNvSpPr/>
            <p:nvPr/>
          </p:nvSpPr>
          <p:spPr>
            <a:xfrm>
              <a:off x="0" y="0"/>
              <a:ext cx="1979097" cy="2709333"/>
            </a:xfrm>
            <a:custGeom>
              <a:avLst/>
              <a:gdLst/>
              <a:ahLst/>
              <a:cxnLst/>
              <a:rect l="l" t="t" r="r" b="b"/>
              <a:pathLst>
                <a:path w="1979097" h="2709333">
                  <a:moveTo>
                    <a:pt x="0" y="0"/>
                  </a:moveTo>
                  <a:lnTo>
                    <a:pt x="1979097" y="0"/>
                  </a:lnTo>
                  <a:lnTo>
                    <a:pt x="1979097" y="2709333"/>
                  </a:lnTo>
                  <a:lnTo>
                    <a:pt x="0" y="2709333"/>
                  </a:lnTo>
                  <a:close/>
                </a:path>
              </a:pathLst>
            </a:custGeom>
            <a:gradFill rotWithShape="1">
              <a:gsLst>
                <a:gs pos="0">
                  <a:srgbClr val="001557">
                    <a:alpha val="100000"/>
                  </a:srgbClr>
                </a:gs>
                <a:gs pos="100000">
                  <a:srgbClr val="153DB6">
                    <a:alpha val="100000"/>
                  </a:srgbClr>
                </a:gs>
              </a:gsLst>
              <a:lin ang="0"/>
            </a:gradFill>
          </p:spPr>
          <p:txBody>
            <a:bodyPr/>
            <a:lstStyle/>
            <a:p>
              <a:endParaRPr lang="en-US"/>
            </a:p>
          </p:txBody>
        </p:sp>
        <p:sp>
          <p:nvSpPr>
            <p:cNvPr id="4" name="TextBox 10">
              <a:extLst>
                <a:ext uri="{FF2B5EF4-FFF2-40B4-BE49-F238E27FC236}">
                  <a16:creationId xmlns:a16="http://schemas.microsoft.com/office/drawing/2014/main" id="{7CFE290B-F8F1-5C5E-ABAE-1CE6E551C0EB}"/>
                </a:ext>
              </a:extLst>
            </p:cNvPr>
            <p:cNvSpPr txBox="1"/>
            <p:nvPr/>
          </p:nvSpPr>
          <p:spPr>
            <a:xfrm>
              <a:off x="0" y="19050"/>
              <a:ext cx="1979097" cy="2690283"/>
            </a:xfrm>
            <a:prstGeom prst="rect">
              <a:avLst/>
            </a:prstGeom>
          </p:spPr>
          <p:txBody>
            <a:bodyPr lIns="50800" tIns="50800" rIns="50800" bIns="50800" rtlCol="0" anchor="ctr"/>
            <a:lstStyle/>
            <a:p>
              <a:pPr algn="ctr">
                <a:lnSpc>
                  <a:spcPts val="1456"/>
                </a:lnSpc>
              </a:pPr>
              <a:endParaRPr/>
            </a:p>
          </p:txBody>
        </p:sp>
      </p:grpSp>
      <p:sp>
        <p:nvSpPr>
          <p:cNvPr id="6" name="TextBox 5">
            <a:extLst>
              <a:ext uri="{FF2B5EF4-FFF2-40B4-BE49-F238E27FC236}">
                <a16:creationId xmlns:a16="http://schemas.microsoft.com/office/drawing/2014/main" id="{7155AE83-1F06-5928-26B7-DE4595A90ECD}"/>
              </a:ext>
            </a:extLst>
          </p:cNvPr>
          <p:cNvSpPr txBox="1"/>
          <p:nvPr/>
        </p:nvSpPr>
        <p:spPr>
          <a:xfrm>
            <a:off x="143626" y="6627644"/>
            <a:ext cx="303519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rgbClr val="FFFFFF"/>
                </a:solidFill>
                <a:ea typeface="Inter Semi-Bold"/>
              </a:rPr>
              <a:t>© Complyance Inc 2021 - 2026</a:t>
            </a:r>
            <a:endParaRPr lang="en-US" sz="1000" dirty="0">
              <a:ea typeface="Inter Semi-Bold"/>
            </a:endParaRPr>
          </a:p>
        </p:txBody>
      </p:sp>
      <p:sp>
        <p:nvSpPr>
          <p:cNvPr id="7" name="TextBox 2">
            <a:extLst>
              <a:ext uri="{FF2B5EF4-FFF2-40B4-BE49-F238E27FC236}">
                <a16:creationId xmlns:a16="http://schemas.microsoft.com/office/drawing/2014/main" id="{347CBB1E-C50F-BD6F-E84A-19993B255627}"/>
              </a:ext>
            </a:extLst>
          </p:cNvPr>
          <p:cNvSpPr txBox="1"/>
          <p:nvPr/>
        </p:nvSpPr>
        <p:spPr>
          <a:xfrm>
            <a:off x="302446" y="458242"/>
            <a:ext cx="8782560" cy="492443"/>
          </a:xfrm>
          <a:prstGeom prst="rect">
            <a:avLst/>
          </a:prstGeom>
        </p:spPr>
        <p:txBody>
          <a:bodyPr wrap="square" lIns="0" tIns="0" rIns="0" bIns="0" rtlCol="0" anchor="t">
            <a:spAutoFit/>
          </a:bodyPr>
          <a:lstStyle/>
          <a:p>
            <a:r>
              <a:rPr lang="en-US" sz="3200" b="1" dirty="0">
                <a:latin typeface="Times New Roman" panose="02020603050405020304" pitchFamily="18" charset="0"/>
                <a:ea typeface="ＭＳ Ｐゴシック" pitchFamily="1" charset="-128"/>
                <a:cs typeface="Times New Roman" panose="02020603050405020304" pitchFamily="18" charset="0"/>
              </a:rPr>
              <a:t>FLOWCHART &amp; SEQUENCE DIAGRAM</a:t>
            </a:r>
            <a:endParaRPr lang="en-US" sz="3500" b="1" dirty="0">
              <a:solidFill>
                <a:srgbClr val="030303"/>
              </a:solidFill>
              <a:latin typeface="+mj-lt"/>
              <a:ea typeface="Helvetica Neue" panose="02000503000000020004" pitchFamily="2" charset="0"/>
              <a:cs typeface="Helvetica Neue" panose="02000503000000020004" pitchFamily="2" charset="0"/>
              <a:sym typeface="Inter Bold"/>
            </a:endParaRPr>
          </a:p>
        </p:txBody>
      </p:sp>
      <p:pic>
        <p:nvPicPr>
          <p:cNvPr id="16" name="Picture 15" descr="A black text on a white background&#10;&#10;AI-generated content may be incorrect.">
            <a:extLst>
              <a:ext uri="{FF2B5EF4-FFF2-40B4-BE49-F238E27FC236}">
                <a16:creationId xmlns:a16="http://schemas.microsoft.com/office/drawing/2014/main" id="{5A084EBC-0EB0-51A0-8C9E-6009A6FBB64A}"/>
              </a:ext>
            </a:extLst>
          </p:cNvPr>
          <p:cNvPicPr>
            <a:picLocks noChangeAspect="1"/>
          </p:cNvPicPr>
          <p:nvPr/>
        </p:nvPicPr>
        <p:blipFill>
          <a:blip r:embed="rId2"/>
          <a:stretch>
            <a:fillRect/>
          </a:stretch>
        </p:blipFill>
        <p:spPr>
          <a:xfrm>
            <a:off x="9790173" y="155174"/>
            <a:ext cx="2204133" cy="572372"/>
          </a:xfrm>
          <a:prstGeom prst="rect">
            <a:avLst/>
          </a:prstGeom>
          <a:ln>
            <a:noFill/>
          </a:ln>
        </p:spPr>
      </p:pic>
      <p:sp>
        <p:nvSpPr>
          <p:cNvPr id="22" name="TextBox 21">
            <a:extLst>
              <a:ext uri="{FF2B5EF4-FFF2-40B4-BE49-F238E27FC236}">
                <a16:creationId xmlns:a16="http://schemas.microsoft.com/office/drawing/2014/main" id="{10E72D7B-9723-8322-9BAE-50ADD111B0D2}"/>
              </a:ext>
            </a:extLst>
          </p:cNvPr>
          <p:cNvSpPr txBox="1"/>
          <p:nvPr/>
        </p:nvSpPr>
        <p:spPr>
          <a:xfrm>
            <a:off x="11392448" y="6608625"/>
            <a:ext cx="60185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000" dirty="0">
                <a:solidFill>
                  <a:schemeClr val="bg1"/>
                </a:solidFill>
                <a:ea typeface="Inter Semi-Bold"/>
              </a:rPr>
              <a:t>04</a:t>
            </a:r>
          </a:p>
        </p:txBody>
      </p:sp>
      <p:pic>
        <p:nvPicPr>
          <p:cNvPr id="9" name="Picture 8">
            <a:extLst>
              <a:ext uri="{FF2B5EF4-FFF2-40B4-BE49-F238E27FC236}">
                <a16:creationId xmlns:a16="http://schemas.microsoft.com/office/drawing/2014/main" id="{D9B82CA3-BF63-0528-881E-D2D6B5BBA478}"/>
              </a:ext>
            </a:extLst>
          </p:cNvPr>
          <p:cNvPicPr>
            <a:picLocks noChangeAspect="1"/>
          </p:cNvPicPr>
          <p:nvPr/>
        </p:nvPicPr>
        <p:blipFill>
          <a:blip r:embed="rId3"/>
          <a:srcRect l="1429" t="565"/>
          <a:stretch>
            <a:fillRect/>
          </a:stretch>
        </p:blipFill>
        <p:spPr>
          <a:xfrm>
            <a:off x="401349" y="1039824"/>
            <a:ext cx="3078383" cy="5308194"/>
          </a:xfrm>
          <a:prstGeom prst="rect">
            <a:avLst/>
          </a:prstGeom>
        </p:spPr>
      </p:pic>
      <p:pic>
        <p:nvPicPr>
          <p:cNvPr id="11" name="Picture 10">
            <a:extLst>
              <a:ext uri="{FF2B5EF4-FFF2-40B4-BE49-F238E27FC236}">
                <a16:creationId xmlns:a16="http://schemas.microsoft.com/office/drawing/2014/main" id="{15B066F6-935B-CC04-15CF-EBE273C4904C}"/>
              </a:ext>
            </a:extLst>
          </p:cNvPr>
          <p:cNvPicPr>
            <a:picLocks noChangeAspect="1"/>
          </p:cNvPicPr>
          <p:nvPr/>
        </p:nvPicPr>
        <p:blipFill>
          <a:blip r:embed="rId4"/>
          <a:stretch>
            <a:fillRect/>
          </a:stretch>
        </p:blipFill>
        <p:spPr>
          <a:xfrm>
            <a:off x="4047751" y="1010328"/>
            <a:ext cx="7344697" cy="5308194"/>
          </a:xfrm>
          <a:prstGeom prst="rect">
            <a:avLst/>
          </a:prstGeom>
        </p:spPr>
      </p:pic>
    </p:spTree>
    <p:extLst>
      <p:ext uri="{BB962C8B-B14F-4D97-AF65-F5344CB8AC3E}">
        <p14:creationId xmlns:p14="http://schemas.microsoft.com/office/powerpoint/2010/main" val="2190125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13680-ECD7-D216-C596-857A7C0E5B58}"/>
            </a:ext>
          </a:extLst>
        </p:cNvPr>
        <p:cNvGrpSpPr/>
        <p:nvPr/>
      </p:nvGrpSpPr>
      <p:grpSpPr>
        <a:xfrm>
          <a:off x="0" y="0"/>
          <a:ext cx="0" cy="0"/>
          <a:chOff x="0" y="0"/>
          <a:chExt cx="0" cy="0"/>
        </a:xfrm>
      </p:grpSpPr>
      <p:grpSp>
        <p:nvGrpSpPr>
          <p:cNvPr id="2" name="Group 8">
            <a:extLst>
              <a:ext uri="{FF2B5EF4-FFF2-40B4-BE49-F238E27FC236}">
                <a16:creationId xmlns:a16="http://schemas.microsoft.com/office/drawing/2014/main" id="{94FE6554-D4D9-0608-CAAC-17D8C822CC75}"/>
              </a:ext>
            </a:extLst>
          </p:cNvPr>
          <p:cNvGrpSpPr/>
          <p:nvPr/>
        </p:nvGrpSpPr>
        <p:grpSpPr>
          <a:xfrm>
            <a:off x="1" y="6595354"/>
            <a:ext cx="12191999" cy="304799"/>
            <a:chOff x="0" y="0"/>
            <a:chExt cx="1979097" cy="2709333"/>
          </a:xfrm>
        </p:grpSpPr>
        <p:sp>
          <p:nvSpPr>
            <p:cNvPr id="3" name="Freeform 9">
              <a:extLst>
                <a:ext uri="{FF2B5EF4-FFF2-40B4-BE49-F238E27FC236}">
                  <a16:creationId xmlns:a16="http://schemas.microsoft.com/office/drawing/2014/main" id="{7D1EE48C-466D-30DA-64E0-AC4CFCDEEAFC}"/>
                </a:ext>
              </a:extLst>
            </p:cNvPr>
            <p:cNvSpPr/>
            <p:nvPr/>
          </p:nvSpPr>
          <p:spPr>
            <a:xfrm>
              <a:off x="0" y="0"/>
              <a:ext cx="1979097" cy="2709333"/>
            </a:xfrm>
            <a:custGeom>
              <a:avLst/>
              <a:gdLst/>
              <a:ahLst/>
              <a:cxnLst/>
              <a:rect l="l" t="t" r="r" b="b"/>
              <a:pathLst>
                <a:path w="1979097" h="2709333">
                  <a:moveTo>
                    <a:pt x="0" y="0"/>
                  </a:moveTo>
                  <a:lnTo>
                    <a:pt x="1979097" y="0"/>
                  </a:lnTo>
                  <a:lnTo>
                    <a:pt x="1979097" y="2709333"/>
                  </a:lnTo>
                  <a:lnTo>
                    <a:pt x="0" y="2709333"/>
                  </a:lnTo>
                  <a:close/>
                </a:path>
              </a:pathLst>
            </a:custGeom>
            <a:gradFill rotWithShape="1">
              <a:gsLst>
                <a:gs pos="0">
                  <a:srgbClr val="001557">
                    <a:alpha val="100000"/>
                  </a:srgbClr>
                </a:gs>
                <a:gs pos="100000">
                  <a:srgbClr val="153DB6">
                    <a:alpha val="100000"/>
                  </a:srgbClr>
                </a:gs>
              </a:gsLst>
              <a:lin ang="0"/>
            </a:gradFill>
          </p:spPr>
          <p:txBody>
            <a:bodyPr/>
            <a:lstStyle/>
            <a:p>
              <a:endParaRPr lang="en-US"/>
            </a:p>
          </p:txBody>
        </p:sp>
        <p:sp>
          <p:nvSpPr>
            <p:cNvPr id="4" name="TextBox 10">
              <a:extLst>
                <a:ext uri="{FF2B5EF4-FFF2-40B4-BE49-F238E27FC236}">
                  <a16:creationId xmlns:a16="http://schemas.microsoft.com/office/drawing/2014/main" id="{130B46B3-A01D-41C6-ABC9-91687102D857}"/>
                </a:ext>
              </a:extLst>
            </p:cNvPr>
            <p:cNvSpPr txBox="1"/>
            <p:nvPr/>
          </p:nvSpPr>
          <p:spPr>
            <a:xfrm>
              <a:off x="0" y="19050"/>
              <a:ext cx="1979097" cy="2690283"/>
            </a:xfrm>
            <a:prstGeom prst="rect">
              <a:avLst/>
            </a:prstGeom>
          </p:spPr>
          <p:txBody>
            <a:bodyPr lIns="50800" tIns="50800" rIns="50800" bIns="50800" rtlCol="0" anchor="ctr"/>
            <a:lstStyle/>
            <a:p>
              <a:pPr algn="ctr">
                <a:lnSpc>
                  <a:spcPts val="1456"/>
                </a:lnSpc>
              </a:pPr>
              <a:endParaRPr/>
            </a:p>
          </p:txBody>
        </p:sp>
      </p:grpSp>
      <p:sp>
        <p:nvSpPr>
          <p:cNvPr id="6" name="TextBox 5">
            <a:extLst>
              <a:ext uri="{FF2B5EF4-FFF2-40B4-BE49-F238E27FC236}">
                <a16:creationId xmlns:a16="http://schemas.microsoft.com/office/drawing/2014/main" id="{6C2DE8D8-256F-8355-3C5D-09238A0A5458}"/>
              </a:ext>
            </a:extLst>
          </p:cNvPr>
          <p:cNvSpPr txBox="1"/>
          <p:nvPr/>
        </p:nvSpPr>
        <p:spPr>
          <a:xfrm>
            <a:off x="143626" y="6627644"/>
            <a:ext cx="303519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solidFill>
                  <a:srgbClr val="FFFFFF"/>
                </a:solidFill>
                <a:ea typeface="Inter Semi-Bold"/>
              </a:rPr>
              <a:t>© Complyance Inc 2021 - 2026</a:t>
            </a:r>
            <a:endParaRPr lang="en-US" sz="1000" dirty="0">
              <a:ea typeface="Inter Semi-Bold"/>
            </a:endParaRPr>
          </a:p>
        </p:txBody>
      </p:sp>
      <p:sp>
        <p:nvSpPr>
          <p:cNvPr id="7" name="TextBox 2">
            <a:extLst>
              <a:ext uri="{FF2B5EF4-FFF2-40B4-BE49-F238E27FC236}">
                <a16:creationId xmlns:a16="http://schemas.microsoft.com/office/drawing/2014/main" id="{A2AE725D-5974-03B7-09D0-91F4CCAFCC6C}"/>
              </a:ext>
            </a:extLst>
          </p:cNvPr>
          <p:cNvSpPr txBox="1"/>
          <p:nvPr/>
        </p:nvSpPr>
        <p:spPr>
          <a:xfrm>
            <a:off x="302445" y="458242"/>
            <a:ext cx="9487727" cy="492443"/>
          </a:xfrm>
          <a:prstGeom prst="rect">
            <a:avLst/>
          </a:prstGeom>
        </p:spPr>
        <p:txBody>
          <a:bodyPr wrap="square" lIns="0" tIns="0" rIns="0" bIns="0" rtlCol="0" anchor="t">
            <a:spAutoFit/>
          </a:bodyPr>
          <a:lstStyle/>
          <a:p>
            <a:r>
              <a:rPr lang="en-US" sz="3200" b="1" dirty="0">
                <a:solidFill>
                  <a:srgbClr val="030303"/>
                </a:solidFill>
                <a:latin typeface="Times New Roman" panose="02020603050405020304" pitchFamily="18" charset="0"/>
                <a:ea typeface="ＭＳ Ｐゴシック" pitchFamily="1" charset="-128"/>
                <a:cs typeface="Times New Roman" panose="02020603050405020304" pitchFamily="18" charset="0"/>
                <a:sym typeface="Inter Bold"/>
              </a:rPr>
              <a:t>WHATS THE PLUS POINT OF YOUR APPROACH</a:t>
            </a:r>
            <a:endParaRPr lang="en-US" sz="3500" b="1" dirty="0">
              <a:solidFill>
                <a:srgbClr val="030303"/>
              </a:solidFill>
              <a:latin typeface="+mj-lt"/>
              <a:ea typeface="Helvetica Neue" panose="02000503000000020004" pitchFamily="2" charset="0"/>
              <a:cs typeface="Helvetica Neue" panose="02000503000000020004" pitchFamily="2" charset="0"/>
              <a:sym typeface="Inter Bold"/>
            </a:endParaRPr>
          </a:p>
        </p:txBody>
      </p:sp>
      <p:sp>
        <p:nvSpPr>
          <p:cNvPr id="8" name="TextBox 11">
            <a:extLst>
              <a:ext uri="{FF2B5EF4-FFF2-40B4-BE49-F238E27FC236}">
                <a16:creationId xmlns:a16="http://schemas.microsoft.com/office/drawing/2014/main" id="{66B2FCE1-C923-1BB0-55C1-373C1E131C71}"/>
              </a:ext>
            </a:extLst>
          </p:cNvPr>
          <p:cNvSpPr txBox="1"/>
          <p:nvPr/>
        </p:nvSpPr>
        <p:spPr>
          <a:xfrm>
            <a:off x="302446" y="1159357"/>
            <a:ext cx="10965322" cy="4308872"/>
          </a:xfrm>
          <a:prstGeom prst="rect">
            <a:avLst/>
          </a:prstGeom>
        </p:spPr>
        <p:txBody>
          <a:bodyPr wrap="square" lIns="0" tIns="0" rIns="0" bIns="0" rtlCol="0" anchor="t">
            <a:spAutoFit/>
          </a:bodyPr>
          <a:lstStyle/>
          <a:p>
            <a:pPr algn="just"/>
            <a:r>
              <a:rPr lang="en-US" sz="2000" b="1" dirty="0">
                <a:latin typeface="+mj-lt"/>
              </a:rPr>
              <a:t>Analysis of the proposed solution:</a:t>
            </a:r>
            <a:r>
              <a:rPr lang="en-US" sz="2000" dirty="0">
                <a:latin typeface="+mj-lt"/>
              </a:rPr>
              <a:t> The solution successfully balances predictive accuracy with operational interpretability. Pure rule-based systems suffer from massive false-positive rates, while Deep Learning models act as "black boxes" that finance teams cannot blindly trust. By utilizing classical Unsupervised ML paired with XAI, we achieve high accuracy with full transparency.</a:t>
            </a:r>
          </a:p>
          <a:p>
            <a:pPr algn="just"/>
            <a:endParaRPr lang="en-US" sz="2000" dirty="0">
              <a:latin typeface="+mj-lt"/>
            </a:endParaRPr>
          </a:p>
          <a:p>
            <a:pPr algn="just"/>
            <a:r>
              <a:rPr lang="en-US" sz="2000" b="1" dirty="0">
                <a:latin typeface="+mj-lt"/>
              </a:rPr>
              <a:t>What is the plus point / advantage of this approach:</a:t>
            </a:r>
            <a:endParaRPr lang="en-US" sz="2000" dirty="0">
              <a:latin typeface="+mj-lt"/>
            </a:endParaRPr>
          </a:p>
          <a:p>
            <a:pPr marL="342900" indent="-342900" algn="just">
              <a:buFont typeface="Arial" panose="020B0604020202020204" pitchFamily="34" charset="0"/>
              <a:buChar char="•"/>
            </a:pPr>
            <a:r>
              <a:rPr lang="en-US" sz="2000" b="1" dirty="0">
                <a:latin typeface="+mj-lt"/>
              </a:rPr>
              <a:t>High Generalizability:</a:t>
            </a:r>
            <a:r>
              <a:rPr lang="en-US" sz="2000" dirty="0">
                <a:latin typeface="+mj-lt"/>
              </a:rPr>
              <a:t> Because the core logic relies on statistical divergence rather than overfitting to the quirks of our specific synthetic data, the model will generalize exceptionally well against the hidden organizer dataset during the final evaluation.</a:t>
            </a:r>
          </a:p>
          <a:p>
            <a:pPr marL="342900" indent="-342900" algn="just">
              <a:buFont typeface="Arial" panose="020B0604020202020204" pitchFamily="34" charset="0"/>
              <a:buChar char="•"/>
            </a:pPr>
            <a:r>
              <a:rPr lang="en-US" sz="2000" b="1" dirty="0">
                <a:latin typeface="+mj-lt"/>
              </a:rPr>
              <a:t>Operational Velocity:</a:t>
            </a:r>
            <a:r>
              <a:rPr lang="en-US" sz="2000" dirty="0">
                <a:latin typeface="+mj-lt"/>
              </a:rPr>
              <a:t> It drastically reduces the time analysts spend investigating. By pointing the finance team exactly to the anomalous fields (e.g., highlighting </a:t>
            </a:r>
            <a:r>
              <a:rPr lang="en-US" sz="2000" i="1" dirty="0">
                <a:latin typeface="+mj-lt"/>
              </a:rPr>
              <a:t>just</a:t>
            </a:r>
            <a:r>
              <a:rPr lang="en-US" sz="2000" dirty="0">
                <a:latin typeface="+mj-lt"/>
              </a:rPr>
              <a:t> the tax rate instead of the whole invoice), we streamline the manual review process.</a:t>
            </a:r>
          </a:p>
          <a:p>
            <a:pPr marL="342900" indent="-342900" algn="just">
              <a:buFont typeface="Arial" panose="020B0604020202020204" pitchFamily="34" charset="0"/>
              <a:buChar char="•"/>
            </a:pPr>
            <a:r>
              <a:rPr lang="en-US" sz="2000" b="1" dirty="0">
                <a:latin typeface="+mj-lt"/>
              </a:rPr>
              <a:t>Lean &amp; Cost-Effective:</a:t>
            </a:r>
            <a:r>
              <a:rPr lang="en-US" sz="2000" dirty="0">
                <a:latin typeface="+mj-lt"/>
              </a:rPr>
              <a:t> By completely avoiding LLMs for the detection logic, the system requires minimal compute power, can run locally on standard hardware, and has near-zero latency.</a:t>
            </a:r>
          </a:p>
        </p:txBody>
      </p:sp>
      <p:pic>
        <p:nvPicPr>
          <p:cNvPr id="16" name="Picture 15" descr="A black text on a white background&#10;&#10;AI-generated content may be incorrect.">
            <a:extLst>
              <a:ext uri="{FF2B5EF4-FFF2-40B4-BE49-F238E27FC236}">
                <a16:creationId xmlns:a16="http://schemas.microsoft.com/office/drawing/2014/main" id="{1CE6D070-A4E6-B21F-7990-57B5CB98A2CE}"/>
              </a:ext>
            </a:extLst>
          </p:cNvPr>
          <p:cNvPicPr>
            <a:picLocks noChangeAspect="1"/>
          </p:cNvPicPr>
          <p:nvPr/>
        </p:nvPicPr>
        <p:blipFill>
          <a:blip r:embed="rId3"/>
          <a:stretch>
            <a:fillRect/>
          </a:stretch>
        </p:blipFill>
        <p:spPr>
          <a:xfrm>
            <a:off x="9790173" y="155174"/>
            <a:ext cx="2204133" cy="572372"/>
          </a:xfrm>
          <a:prstGeom prst="rect">
            <a:avLst/>
          </a:prstGeom>
          <a:ln>
            <a:noFill/>
          </a:ln>
        </p:spPr>
      </p:pic>
      <p:sp>
        <p:nvSpPr>
          <p:cNvPr id="22" name="TextBox 21">
            <a:extLst>
              <a:ext uri="{FF2B5EF4-FFF2-40B4-BE49-F238E27FC236}">
                <a16:creationId xmlns:a16="http://schemas.microsoft.com/office/drawing/2014/main" id="{DBAA0F95-F925-9085-1AED-62FD578129E9}"/>
              </a:ext>
            </a:extLst>
          </p:cNvPr>
          <p:cNvSpPr txBox="1"/>
          <p:nvPr/>
        </p:nvSpPr>
        <p:spPr>
          <a:xfrm>
            <a:off x="11392448" y="6608625"/>
            <a:ext cx="60185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sz="1000" dirty="0">
                <a:solidFill>
                  <a:schemeClr val="bg1"/>
                </a:solidFill>
                <a:ea typeface="Inter Semi-Bold"/>
              </a:rPr>
              <a:t>05</a:t>
            </a:r>
          </a:p>
        </p:txBody>
      </p:sp>
    </p:spTree>
    <p:extLst>
      <p:ext uri="{BB962C8B-B14F-4D97-AF65-F5344CB8AC3E}">
        <p14:creationId xmlns:p14="http://schemas.microsoft.com/office/powerpoint/2010/main" val="5694520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24A779B-FA07-4D82-91AA-125B3F9AE39A}">
  <we:reference id="f5f369e5-aa35-49d7-ad7b-638152ddb008" version="1.0.0.0" store="excatalog" storeType="excatalog"/>
  <we:alternateReferences>
    <we:reference id="WA200010001" version="1.0.0.0" store="en-gb" storeType="omex"/>
  </we:alternateReferences>
  <we:properties>
    <we:property name="claude.fileId" value="&quot;721fb90d-2635-4958-8e33-8b1f932e0aa5&quot;"/>
  </we:properties>
  <we:bindings/>
  <we:snapshot xmlns:r="http://schemas.openxmlformats.org/officeDocument/2006/relationships"/>
  <we:extLst>
    <a:ext xmlns:a="http://schemas.openxmlformats.org/drawingml/2006/main" uri="{0858819E-0033-43BF-8937-05EC82904868}">
      <we:backgroundApp state="0" runtimeId="Taskpane.Url"/>
    </a:ext>
  </we:extLst>
</we:webextension>
</file>

<file path=docProps/app.xml><?xml version="1.0" encoding="utf-8"?>
<Properties xmlns="http://schemas.openxmlformats.org/officeDocument/2006/extended-properties" xmlns:vt="http://schemas.openxmlformats.org/officeDocument/2006/docPropsVTypes">
  <TotalTime>72</TotalTime>
  <Words>874</Words>
  <Application>Microsoft Office PowerPoint</Application>
  <PresentationFormat>Widescreen</PresentationFormat>
  <Paragraphs>53</Paragraphs>
  <Slides>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Inter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marketing Complyance</dc:creator>
  <cp:lastModifiedBy>AJAY R</cp:lastModifiedBy>
  <cp:revision>67</cp:revision>
  <dcterms:created xsi:type="dcterms:W3CDTF">2026-02-21T10:34:54Z</dcterms:created>
  <dcterms:modified xsi:type="dcterms:W3CDTF">2026-05-16T07:51:07Z</dcterms:modified>
</cp:coreProperties>
</file>